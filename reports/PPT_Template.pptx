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39"/>
  </p:notesMasterIdLst>
  <p:sldIdLst>
    <p:sldId id="256" r:id="rId3"/>
    <p:sldId id="258" r:id="rId4"/>
    <p:sldId id="257" r:id="rId5"/>
    <p:sldId id="261" r:id="rId6"/>
    <p:sldId id="259" r:id="rId7"/>
    <p:sldId id="262" r:id="rId8"/>
    <p:sldId id="264" r:id="rId9"/>
    <p:sldId id="263" r:id="rId10"/>
    <p:sldId id="266" r:id="rId11"/>
    <p:sldId id="267" r:id="rId12"/>
    <p:sldId id="265" r:id="rId13"/>
    <p:sldId id="270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0" r:id="rId34"/>
    <p:sldId id="291" r:id="rId35"/>
    <p:sldId id="288" r:id="rId36"/>
    <p:sldId id="289" r:id="rId37"/>
    <p:sldId id="260" r:id="rId3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Poppins" panose="00000500000000000000" pitchFamily="2" charset="0"/>
      <p:regular r:id="rId44"/>
      <p:bold r:id="rId45"/>
      <p:italic r:id="rId46"/>
      <p:boldItalic r:id="rId47"/>
    </p:embeddedFont>
    <p:embeddedFont>
      <p:font typeface="Poppins Light" panose="00000400000000000000" pitchFamily="2" charset="0"/>
      <p:regular r:id="rId48"/>
      <p:bold r:id="rId49"/>
      <p:italic r:id="rId50"/>
      <p:boldItalic r:id="rId51"/>
    </p:embeddedFont>
    <p:embeddedFont>
      <p:font typeface="Poppins SemiBold" panose="00000700000000000000" pitchFamily="2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4C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88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1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7.fntdata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ky bayu prasongko" userId="d3e3593ef51f53a9" providerId="LiveId" clId="{7FFC2FC7-7CDF-479C-851D-3053456B485F}"/>
    <pc:docChg chg="undo custSel addSld modSld">
      <pc:chgData name="zacky bayu prasongko" userId="d3e3593ef51f53a9" providerId="LiveId" clId="{7FFC2FC7-7CDF-479C-851D-3053456B485F}" dt="2026-08-28T17:00:27.137" v="570" actId="1076"/>
      <pc:docMkLst>
        <pc:docMk/>
      </pc:docMkLst>
      <pc:sldChg chg="modSp mod">
        <pc:chgData name="zacky bayu prasongko" userId="d3e3593ef51f53a9" providerId="LiveId" clId="{7FFC2FC7-7CDF-479C-851D-3053456B485F}" dt="2026-08-28T17:00:27.137" v="570" actId="1076"/>
        <pc:sldMkLst>
          <pc:docMk/>
          <pc:sldMk cId="1333363162" sldId="281"/>
        </pc:sldMkLst>
        <pc:spChg chg="mod">
          <ac:chgData name="zacky bayu prasongko" userId="d3e3593ef51f53a9" providerId="LiveId" clId="{7FFC2FC7-7CDF-479C-851D-3053456B485F}" dt="2026-08-28T17:00:27.137" v="570" actId="1076"/>
          <ac:spMkLst>
            <pc:docMk/>
            <pc:sldMk cId="1333363162" sldId="281"/>
            <ac:spMk id="3" creationId="{F2EB8426-CF92-90E8-8687-62D3F294A0DC}"/>
          </ac:spMkLst>
        </pc:spChg>
        <pc:spChg chg="mod">
          <ac:chgData name="zacky bayu prasongko" userId="d3e3593ef51f53a9" providerId="LiveId" clId="{7FFC2FC7-7CDF-479C-851D-3053456B485F}" dt="2026-08-28T17:00:27.137" v="570" actId="1076"/>
          <ac:spMkLst>
            <pc:docMk/>
            <pc:sldMk cId="1333363162" sldId="281"/>
            <ac:spMk id="5" creationId="{672D1BC5-34AB-F7AC-8EB2-3EB6F1B88435}"/>
          </ac:spMkLst>
        </pc:spChg>
        <pc:spChg chg="mod">
          <ac:chgData name="zacky bayu prasongko" userId="d3e3593ef51f53a9" providerId="LiveId" clId="{7FFC2FC7-7CDF-479C-851D-3053456B485F}" dt="2026-08-28T17:00:27.137" v="570" actId="1076"/>
          <ac:spMkLst>
            <pc:docMk/>
            <pc:sldMk cId="1333363162" sldId="281"/>
            <ac:spMk id="13" creationId="{1CBEE241-0896-BE5A-4E7A-D53B726E4055}"/>
          </ac:spMkLst>
        </pc:spChg>
        <pc:spChg chg="mod">
          <ac:chgData name="zacky bayu prasongko" userId="d3e3593ef51f53a9" providerId="LiveId" clId="{7FFC2FC7-7CDF-479C-851D-3053456B485F}" dt="2026-08-28T17:00:27.137" v="570" actId="1076"/>
          <ac:spMkLst>
            <pc:docMk/>
            <pc:sldMk cId="1333363162" sldId="281"/>
            <ac:spMk id="14" creationId="{8288BCFF-583A-8906-F03F-501FD97256F0}"/>
          </ac:spMkLst>
        </pc:spChg>
        <pc:picChg chg="mod">
          <ac:chgData name="zacky bayu prasongko" userId="d3e3593ef51f53a9" providerId="LiveId" clId="{7FFC2FC7-7CDF-479C-851D-3053456B485F}" dt="2026-08-28T17:00:27.137" v="570" actId="1076"/>
          <ac:picMkLst>
            <pc:docMk/>
            <pc:sldMk cId="1333363162" sldId="281"/>
            <ac:picMk id="7" creationId="{7DC10042-27B5-C5D6-0E67-5E05B609CBBE}"/>
          </ac:picMkLst>
        </pc:picChg>
        <pc:picChg chg="mod">
          <ac:chgData name="zacky bayu prasongko" userId="d3e3593ef51f53a9" providerId="LiveId" clId="{7FFC2FC7-7CDF-479C-851D-3053456B485F}" dt="2026-08-28T17:00:27.137" v="570" actId="1076"/>
          <ac:picMkLst>
            <pc:docMk/>
            <pc:sldMk cId="1333363162" sldId="281"/>
            <ac:picMk id="11" creationId="{BFDED3C8-8B2E-BF5D-ED2F-2E43BED4B8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85689bf0b3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285689bf0b3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4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8569ad44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89496A1-554F-8277-944E-93981D013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414_0_0:notes">
            <a:extLst>
              <a:ext uri="{FF2B5EF4-FFF2-40B4-BE49-F238E27FC236}">
                <a16:creationId xmlns:a16="http://schemas.microsoft.com/office/drawing/2014/main" id="{24C45D05-C681-8C92-9B77-7FAD002DAA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8569ad4414_0_0:notes">
            <a:extLst>
              <a:ext uri="{FF2B5EF4-FFF2-40B4-BE49-F238E27FC236}">
                <a16:creationId xmlns:a16="http://schemas.microsoft.com/office/drawing/2014/main" id="{14FA23BF-D14E-99FD-9AD9-F0FE06FC2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0813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569ad441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28569ad441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F65CD39-8063-344D-15C7-B04D5FB6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414_0_0:notes">
            <a:extLst>
              <a:ext uri="{FF2B5EF4-FFF2-40B4-BE49-F238E27FC236}">
                <a16:creationId xmlns:a16="http://schemas.microsoft.com/office/drawing/2014/main" id="{667B11B4-2C61-BB34-FF5C-4E6D56BE5E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8569ad4414_0_0:notes">
            <a:extLst>
              <a:ext uri="{FF2B5EF4-FFF2-40B4-BE49-F238E27FC236}">
                <a16:creationId xmlns:a16="http://schemas.microsoft.com/office/drawing/2014/main" id="{C1DD27F6-A421-FF62-F94B-8A736533A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3665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593A4D-F00E-AD19-298D-E03CF0CE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569ad4414_0_5:notes">
            <a:extLst>
              <a:ext uri="{FF2B5EF4-FFF2-40B4-BE49-F238E27FC236}">
                <a16:creationId xmlns:a16="http://schemas.microsoft.com/office/drawing/2014/main" id="{3556CB44-C24A-27F6-CA64-2830C3A28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28569ad4414_0_5:notes">
            <a:extLst>
              <a:ext uri="{FF2B5EF4-FFF2-40B4-BE49-F238E27FC236}">
                <a16:creationId xmlns:a16="http://schemas.microsoft.com/office/drawing/2014/main" id="{6825BDDE-7210-DBF2-6C09-A0B2A90FEA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143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B7D013B-6501-718E-5B87-D1D8E7512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414_0_0:notes">
            <a:extLst>
              <a:ext uri="{FF2B5EF4-FFF2-40B4-BE49-F238E27FC236}">
                <a16:creationId xmlns:a16="http://schemas.microsoft.com/office/drawing/2014/main" id="{523C3D42-B083-7CC1-77B0-61F4E4932C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8569ad4414_0_0:notes">
            <a:extLst>
              <a:ext uri="{FF2B5EF4-FFF2-40B4-BE49-F238E27FC236}">
                <a16:creationId xmlns:a16="http://schemas.microsoft.com/office/drawing/2014/main" id="{68D76613-6F1A-B2EF-4A12-17E52534D1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9508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F591F51C-BD72-5DA1-4BC6-2F1412393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414_0_0:notes">
            <a:extLst>
              <a:ext uri="{FF2B5EF4-FFF2-40B4-BE49-F238E27FC236}">
                <a16:creationId xmlns:a16="http://schemas.microsoft.com/office/drawing/2014/main" id="{C5F06A65-CA7E-EAA8-1117-835CD1797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8569ad4414_0_0:notes">
            <a:extLst>
              <a:ext uri="{FF2B5EF4-FFF2-40B4-BE49-F238E27FC236}">
                <a16:creationId xmlns:a16="http://schemas.microsoft.com/office/drawing/2014/main" id="{F256527B-B331-709D-C216-37EEF06B0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8127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A4C8574-C66D-D618-D795-66771682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414_0_0:notes">
            <a:extLst>
              <a:ext uri="{FF2B5EF4-FFF2-40B4-BE49-F238E27FC236}">
                <a16:creationId xmlns:a16="http://schemas.microsoft.com/office/drawing/2014/main" id="{E1133B98-DD34-315E-F317-82C672F9AC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8569ad4414_0_0:notes">
            <a:extLst>
              <a:ext uri="{FF2B5EF4-FFF2-40B4-BE49-F238E27FC236}">
                <a16:creationId xmlns:a16="http://schemas.microsoft.com/office/drawing/2014/main" id="{A5995208-1E44-9361-D535-692816CEE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8772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2D9AE40-BFAC-A49C-46C7-1D321DCB8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6787974B-0EFC-1492-0F62-7C5F800462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D6D634AC-11FC-1C85-2543-5635554B2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4733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55CE1BE-13C4-E138-0AA4-42799DBE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BDE87ABA-3A86-7FA7-95AA-E5AB42C158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326F8DAE-B7E1-4A5E-7B8F-C515EDBF43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8983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30CD5B6-B5AE-3A5A-4DAF-3B74AFE1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569ad4414_0_5:notes">
            <a:extLst>
              <a:ext uri="{FF2B5EF4-FFF2-40B4-BE49-F238E27FC236}">
                <a16:creationId xmlns:a16="http://schemas.microsoft.com/office/drawing/2014/main" id="{1B8E9DDC-8F09-7331-EBE3-5C251C9A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28569ad4414_0_5:notes">
            <a:extLst>
              <a:ext uri="{FF2B5EF4-FFF2-40B4-BE49-F238E27FC236}">
                <a16:creationId xmlns:a16="http://schemas.microsoft.com/office/drawing/2014/main" id="{DF7DF6D9-5A53-50D9-8262-7607BA161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4928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A906CF9C-096F-56CC-C513-D14184B2F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C2162477-D623-FAC7-AB5A-29EFAE779D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DC59490C-5A17-74EF-2E6B-A3AB781EB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7568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55043A7-F4CA-2E34-232C-106373D7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594B094F-AA94-1E82-2432-17A6A119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F0EB8876-6836-AA5C-860E-0F8041F71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17065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A0C3D30-8A8C-E273-099D-9A3FDF9E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BE6193BF-5828-C065-50EC-BC2AC33520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8C35E619-FCF4-0A06-2142-742AC7A0F4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4298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7BCCA12-3488-6FA9-0885-A872ED41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26AA0958-B9FA-36C0-8AC4-B8D716AD9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613846F4-B026-03F1-2D75-338C17E1E9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680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CE356F2-859E-A38E-B25F-0F191786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E9D77AEC-3809-3A9B-2DBE-E8F42E62C3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56F38E1E-3FE8-072A-D867-D8D165D30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97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815728F-1AEC-4DD0-41B7-049502CE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569ad4414_0_5:notes">
            <a:extLst>
              <a:ext uri="{FF2B5EF4-FFF2-40B4-BE49-F238E27FC236}">
                <a16:creationId xmlns:a16="http://schemas.microsoft.com/office/drawing/2014/main" id="{35EB0AA5-5512-24D0-0EEF-EA86D72C0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28569ad4414_0_5:notes">
            <a:extLst>
              <a:ext uri="{FF2B5EF4-FFF2-40B4-BE49-F238E27FC236}">
                <a16:creationId xmlns:a16="http://schemas.microsoft.com/office/drawing/2014/main" id="{0FCC7F3C-47FC-C1A5-FBD5-601B7F343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6151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66DB3DF-7CF6-B433-16BC-E317292D7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414_0_0:notes">
            <a:extLst>
              <a:ext uri="{FF2B5EF4-FFF2-40B4-BE49-F238E27FC236}">
                <a16:creationId xmlns:a16="http://schemas.microsoft.com/office/drawing/2014/main" id="{E5C759B7-0847-642A-D918-71E5DF100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8569ad4414_0_0:notes">
            <a:extLst>
              <a:ext uri="{FF2B5EF4-FFF2-40B4-BE49-F238E27FC236}">
                <a16:creationId xmlns:a16="http://schemas.microsoft.com/office/drawing/2014/main" id="{C9DD7560-A18F-AAFF-900B-6915B8CBD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89100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C38CB85-D350-8B90-87E8-DEE9C7009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60ADAB59-6419-A60A-589C-1B732F5FCB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B5AE5697-7037-2341-30C3-A8D172752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743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4C430AE-4199-CB01-EB03-024B8B39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7EECB503-85A1-E943-328E-519C6F1CD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E343ABDD-3D0D-9C2E-DAD6-A9501C6D01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1404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F5BD613-0026-CB46-4882-5C235DE10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80C8C731-1327-10A7-DB46-D2EAA3564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65BE7381-838F-F865-A842-C32551B2D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53954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E2C1195-6A94-06B1-67DA-BF7D26177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C844C3DB-6092-10BB-C672-E29DD1F8D4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344A6AF8-82B0-705F-1AEE-2C52DC73A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81655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1389F22-9D09-C17E-B7F7-02F594159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A09A7CB6-556B-1A8F-FF83-93F9AFCB58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E6258563-3875-FA1E-942B-3DABFA4CC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98113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5EEA355-D174-E8F5-33C5-64858BCB6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472BB402-3AF3-D99E-7767-490F17662B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002501BE-4525-4606-8546-0B449BD110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9813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AE17B39-E33C-C91C-3F79-036471913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569ad4414_0_5:notes">
            <a:extLst>
              <a:ext uri="{FF2B5EF4-FFF2-40B4-BE49-F238E27FC236}">
                <a16:creationId xmlns:a16="http://schemas.microsoft.com/office/drawing/2014/main" id="{282F0D00-D2DA-0D96-AB9E-B754740239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28569ad4414_0_5:notes">
            <a:extLst>
              <a:ext uri="{FF2B5EF4-FFF2-40B4-BE49-F238E27FC236}">
                <a16:creationId xmlns:a16="http://schemas.microsoft.com/office/drawing/2014/main" id="{C4CE0605-CBEC-C6EC-F731-5D4540648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62351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F6F5061-DB9A-1A8A-F1D4-B0486119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414_0_0:notes">
            <a:extLst>
              <a:ext uri="{FF2B5EF4-FFF2-40B4-BE49-F238E27FC236}">
                <a16:creationId xmlns:a16="http://schemas.microsoft.com/office/drawing/2014/main" id="{76977311-C602-472D-900C-B21704025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8569ad4414_0_0:notes">
            <a:extLst>
              <a:ext uri="{FF2B5EF4-FFF2-40B4-BE49-F238E27FC236}">
                <a16:creationId xmlns:a16="http://schemas.microsoft.com/office/drawing/2014/main" id="{B0FBB706-3CFA-9E58-57D2-DB426A42A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54634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E7ED2459-A64C-A6B0-9058-A0882041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414_0_0:notes">
            <a:extLst>
              <a:ext uri="{FF2B5EF4-FFF2-40B4-BE49-F238E27FC236}">
                <a16:creationId xmlns:a16="http://schemas.microsoft.com/office/drawing/2014/main" id="{2B780DD2-82D1-AAE1-FDA8-178BFD5951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8569ad4414_0_0:notes">
            <a:extLst>
              <a:ext uri="{FF2B5EF4-FFF2-40B4-BE49-F238E27FC236}">
                <a16:creationId xmlns:a16="http://schemas.microsoft.com/office/drawing/2014/main" id="{40ACB556-DCFD-B533-A35F-4479A68498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72562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1AEF3C3-EF2E-C60D-2E7A-2FB221B0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D62C77E8-C7E5-E48B-DAD3-49BA20AF7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64B9F8F6-D788-808C-5312-5DE94004F6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5041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08061EC-2466-8ECE-C413-6723809E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90D40FE4-3A68-5F63-EECC-2FF9E4D4A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D4796D4A-6022-ABA1-13F9-8FB2344D1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31410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8CE5C74-59DA-4FA2-3EC8-1A806F3D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A6D886CF-8365-4DD4-4706-1E6FA4EBB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8551A3DD-8B76-6BBE-E897-9908D4069E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8452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6415B47-A426-A574-53B0-FE61B4162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D485DCF6-5728-E7B2-ABE4-EB1571998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36A746B4-EBFD-37E8-4C5E-E3323DAE96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04874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401A80D-4042-A2D1-5B4B-024ECD06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89bf0b3_0_199:notes">
            <a:extLst>
              <a:ext uri="{FF2B5EF4-FFF2-40B4-BE49-F238E27FC236}">
                <a16:creationId xmlns:a16="http://schemas.microsoft.com/office/drawing/2014/main" id="{08B8867E-1F3A-84CC-3AE0-0FD391CF71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85689bf0b3_0_199:notes">
            <a:extLst>
              <a:ext uri="{FF2B5EF4-FFF2-40B4-BE49-F238E27FC236}">
                <a16:creationId xmlns:a16="http://schemas.microsoft.com/office/drawing/2014/main" id="{97C46620-8673-EA88-75F3-09D18291C3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778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DCC0F617-8D67-51EF-F61B-B210B8D9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414_0_0:notes">
            <a:extLst>
              <a:ext uri="{FF2B5EF4-FFF2-40B4-BE49-F238E27FC236}">
                <a16:creationId xmlns:a16="http://schemas.microsoft.com/office/drawing/2014/main" id="{03DD7A56-43F2-A09B-3659-B8200993A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8569ad4414_0_0:notes">
            <a:extLst>
              <a:ext uri="{FF2B5EF4-FFF2-40B4-BE49-F238E27FC236}">
                <a16:creationId xmlns:a16="http://schemas.microsoft.com/office/drawing/2014/main" id="{BFC53563-8972-334F-6AE4-2C863A269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04457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85689bf0b3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285689bf0b3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15700" y="4107600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311700" y="672450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1080000" y="1958850"/>
            <a:ext cx="698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472458" y="4815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1829850" y="206502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265500" y="1425175"/>
            <a:ext cx="26385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subTitle" idx="1"/>
          </p:nvPr>
        </p:nvSpPr>
        <p:spPr>
          <a:xfrm>
            <a:off x="265500" y="3144000"/>
            <a:ext cx="2386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2"/>
          </p:nvPr>
        </p:nvSpPr>
        <p:spPr>
          <a:xfrm>
            <a:off x="3972000" y="724075"/>
            <a:ext cx="48045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Char char="●"/>
              <a:defRPr sz="18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%3A%2F%2Farchive.ics.uci.edu%2Fdataset%2F45%2Fheart%2Bdiseas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projectdqlabheartdisease.streamlit.app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ctrTitle"/>
          </p:nvPr>
        </p:nvSpPr>
        <p:spPr>
          <a:xfrm>
            <a:off x="136625" y="811550"/>
            <a:ext cx="44355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600" dirty="0"/>
              <a:t>Early Detection System: </a:t>
            </a:r>
            <a:r>
              <a:rPr lang="en" sz="2600" b="0" dirty="0"/>
              <a:t>Pemanfaatan Machine Learning untuk Deteksi Dini Penyakit Jantung.</a:t>
            </a:r>
            <a:endParaRPr sz="2200" b="0" dirty="0"/>
          </a:p>
        </p:txBody>
      </p:sp>
      <p:sp>
        <p:nvSpPr>
          <p:cNvPr id="90" name="Google Shape;90;p23"/>
          <p:cNvSpPr txBox="1">
            <a:spLocks noGrp="1"/>
          </p:cNvSpPr>
          <p:nvPr>
            <p:ph type="subTitle" idx="1"/>
          </p:nvPr>
        </p:nvSpPr>
        <p:spPr>
          <a:xfrm>
            <a:off x="215700" y="38529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 dirty="0"/>
              <a:t>Bootcamp Machine Learning and AI for Beginner</a:t>
            </a:r>
            <a:endParaRPr dirty="0"/>
          </a:p>
        </p:txBody>
      </p:sp>
      <p:sp>
        <p:nvSpPr>
          <p:cNvPr id="91" name="Google Shape;91;p23"/>
          <p:cNvSpPr txBox="1">
            <a:spLocks noGrp="1"/>
          </p:cNvSpPr>
          <p:nvPr>
            <p:ph type="subTitle" idx="1"/>
          </p:nvPr>
        </p:nvSpPr>
        <p:spPr>
          <a:xfrm>
            <a:off x="215700" y="44436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35"/>
              <a:buNone/>
            </a:pPr>
            <a:r>
              <a:rPr lang="en" dirty="0"/>
              <a:t>By: Zacky Bayu Prasongko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>
            <a:spLocks noGrp="1"/>
          </p:cNvSpPr>
          <p:nvPr>
            <p:ph type="ctrTitle" idx="4294967295"/>
          </p:nvPr>
        </p:nvSpPr>
        <p:spPr>
          <a:xfrm>
            <a:off x="233075" y="1325875"/>
            <a:ext cx="27807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100" dirty="0">
                <a:solidFill>
                  <a:schemeClr val="lt1"/>
                </a:solidFill>
              </a:rPr>
              <a:t>Outline</a:t>
            </a:r>
            <a:endParaRPr sz="2700" b="0" dirty="0">
              <a:solidFill>
                <a:schemeClr val="lt1"/>
              </a:solidFill>
            </a:endParaRPr>
          </a:p>
        </p:txBody>
      </p:sp>
      <p:pic>
        <p:nvPicPr>
          <p:cNvPr id="101" name="Google Shape;101;p25" title="Gemini_Generated_Image_ewrm9xewrm9xewr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2325" y="1213300"/>
            <a:ext cx="5439326" cy="28432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BE0A89-F6C0-5DF8-C265-BB6333F5A780}"/>
              </a:ext>
            </a:extLst>
          </p:cNvPr>
          <p:cNvSpPr/>
          <p:nvPr/>
        </p:nvSpPr>
        <p:spPr>
          <a:xfrm>
            <a:off x="5689435" y="1387868"/>
            <a:ext cx="1325106" cy="417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54CAD"/>
                </a:solidFill>
                <a:latin typeface="Poppins SemiBold" panose="020B0502040204020203" pitchFamily="2" charset="0"/>
                <a:cs typeface="Poppins SemiBold" panose="020B0502040204020203" pitchFamily="2" charset="0"/>
              </a:rPr>
              <a:t>Background</a:t>
            </a:r>
            <a:endParaRPr lang="en-ID" dirty="0">
              <a:solidFill>
                <a:srgbClr val="554CAD"/>
              </a:solidFill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342C4C-814B-E5E3-038D-5E3E32B5BAF4}"/>
              </a:ext>
            </a:extLst>
          </p:cNvPr>
          <p:cNvSpPr/>
          <p:nvPr/>
        </p:nvSpPr>
        <p:spPr>
          <a:xfrm>
            <a:off x="7585819" y="1387867"/>
            <a:ext cx="1325106" cy="417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54CAD"/>
                </a:solidFill>
                <a:latin typeface="Poppins SemiBold" panose="020B0502040204020203" pitchFamily="2" charset="0"/>
                <a:cs typeface="Poppins SemiBold" panose="020B0502040204020203" pitchFamily="2" charset="0"/>
              </a:rPr>
              <a:t>Goals</a:t>
            </a:r>
            <a:endParaRPr lang="en-ID" dirty="0">
              <a:solidFill>
                <a:srgbClr val="554CAD"/>
              </a:solidFill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57A86D-9F94-7E81-D3EF-0A18913DF14F}"/>
              </a:ext>
            </a:extLst>
          </p:cNvPr>
          <p:cNvSpPr/>
          <p:nvPr/>
        </p:nvSpPr>
        <p:spPr>
          <a:xfrm>
            <a:off x="3790948" y="2438306"/>
            <a:ext cx="1325106" cy="417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54CAD"/>
                </a:solidFill>
                <a:latin typeface="Poppins SemiBold" panose="020B0502040204020203" pitchFamily="2" charset="0"/>
                <a:cs typeface="Poppins SemiBold" panose="020B0502040204020203" pitchFamily="2" charset="0"/>
              </a:rPr>
              <a:t>Evaluation</a:t>
            </a:r>
            <a:endParaRPr lang="en-ID" dirty="0">
              <a:solidFill>
                <a:srgbClr val="554CAD"/>
              </a:solidFill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2ED02B-22F7-3044-1E28-22F16A5D6997}"/>
              </a:ext>
            </a:extLst>
          </p:cNvPr>
          <p:cNvSpPr/>
          <p:nvPr/>
        </p:nvSpPr>
        <p:spPr>
          <a:xfrm>
            <a:off x="7552267" y="2424759"/>
            <a:ext cx="1358658" cy="417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554CAD"/>
                </a:solidFill>
                <a:latin typeface="Poppins SemiBold" panose="020B0502040204020203" pitchFamily="2" charset="0"/>
                <a:cs typeface="Poppins SemiBold" panose="020B0502040204020203" pitchFamily="2" charset="0"/>
              </a:rPr>
              <a:t>Data Understanding</a:t>
            </a:r>
            <a:endParaRPr lang="en-ID" sz="1200" dirty="0">
              <a:solidFill>
                <a:srgbClr val="554CAD"/>
              </a:solidFill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E56BA6-92FE-4244-EABD-5DE75DBBAFA0}"/>
              </a:ext>
            </a:extLst>
          </p:cNvPr>
          <p:cNvSpPr/>
          <p:nvPr/>
        </p:nvSpPr>
        <p:spPr>
          <a:xfrm>
            <a:off x="7585819" y="3461651"/>
            <a:ext cx="1254940" cy="417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554CAD"/>
                </a:solidFill>
                <a:latin typeface="Poppins SemiBold" panose="020B0502040204020203" pitchFamily="2" charset="0"/>
                <a:cs typeface="Poppins SemiBold" panose="020B0502040204020203" pitchFamily="2" charset="0"/>
              </a:rPr>
              <a:t>Data</a:t>
            </a:r>
            <a:r>
              <a:rPr lang="en-ID" sz="1200" dirty="0">
                <a:solidFill>
                  <a:srgbClr val="554CAD"/>
                </a:solidFill>
                <a:latin typeface="Poppins SemiBold" panose="020B0502040204020203" pitchFamily="2" charset="0"/>
                <a:cs typeface="Poppins SemiBold" panose="020B0502040204020203" pitchFamily="2" charset="0"/>
              </a:rPr>
              <a:t> Preparation</a:t>
            </a:r>
            <a:endParaRPr lang="en-US" sz="1200" dirty="0">
              <a:solidFill>
                <a:srgbClr val="554CAD"/>
              </a:solidFill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DD7706-2AC9-0CD5-41EE-C9A6CB9206D9}"/>
              </a:ext>
            </a:extLst>
          </p:cNvPr>
          <p:cNvSpPr/>
          <p:nvPr/>
        </p:nvSpPr>
        <p:spPr>
          <a:xfrm>
            <a:off x="5672659" y="3461650"/>
            <a:ext cx="1358658" cy="417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554CAD"/>
                </a:solidFill>
                <a:latin typeface="Poppins SemiBold" panose="020B0502040204020203" pitchFamily="2" charset="0"/>
                <a:cs typeface="Poppins SemiBold" panose="020B0502040204020203" pitchFamily="2" charset="0"/>
              </a:rPr>
              <a:t>Exploratory Data Analyst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122D34-50DB-683B-516F-109A641E3A57}"/>
              </a:ext>
            </a:extLst>
          </p:cNvPr>
          <p:cNvSpPr/>
          <p:nvPr/>
        </p:nvSpPr>
        <p:spPr>
          <a:xfrm>
            <a:off x="3790948" y="3461650"/>
            <a:ext cx="1358658" cy="417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554CAD"/>
                </a:solidFill>
                <a:latin typeface="Poppins SemiBold" panose="020B0502040204020203" pitchFamily="2" charset="0"/>
                <a:cs typeface="Poppins SemiBold" panose="020B0502040204020203" pitchFamily="2" charset="0"/>
              </a:rPr>
              <a:t>Modeling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F9E04C-06C2-D76E-E81D-7A3CD0DD9251}"/>
              </a:ext>
            </a:extLst>
          </p:cNvPr>
          <p:cNvSpPr/>
          <p:nvPr/>
        </p:nvSpPr>
        <p:spPr>
          <a:xfrm>
            <a:off x="5540188" y="2251422"/>
            <a:ext cx="1667436" cy="79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076A14-D00A-36F9-8E99-616862C095B7}"/>
              </a:ext>
            </a:extLst>
          </p:cNvPr>
          <p:cNvSpPr/>
          <p:nvPr/>
        </p:nvSpPr>
        <p:spPr>
          <a:xfrm>
            <a:off x="3941636" y="1272749"/>
            <a:ext cx="1679702" cy="1070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63D00F2D-47E9-8243-4801-3D3A65D0B82D}"/>
              </a:ext>
            </a:extLst>
          </p:cNvPr>
          <p:cNvSpPr txBox="1">
            <a:spLocks/>
          </p:cNvSpPr>
          <p:nvPr/>
        </p:nvSpPr>
        <p:spPr>
          <a:xfrm>
            <a:off x="770464" y="352925"/>
            <a:ext cx="5721229" cy="13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700" dirty="0"/>
              <a:t>Background: </a:t>
            </a:r>
            <a:r>
              <a:rPr lang="en-US" sz="2700" dirty="0" err="1"/>
              <a:t>Urgensi</a:t>
            </a:r>
            <a:r>
              <a:rPr lang="en-US" sz="2700" dirty="0"/>
              <a:t> </a:t>
            </a:r>
            <a:r>
              <a:rPr lang="en-US" sz="2700" dirty="0" err="1"/>
              <a:t>Sejak</a:t>
            </a:r>
            <a:r>
              <a:rPr lang="en-US" sz="2700" dirty="0"/>
              <a:t> Dini </a:t>
            </a:r>
            <a:endParaRPr lang="en-ID" sz="2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7F0D90-A8F4-1FE2-EA76-B7A956083FE5}"/>
              </a:ext>
            </a:extLst>
          </p:cNvPr>
          <p:cNvSpPr txBox="1"/>
          <p:nvPr/>
        </p:nvSpPr>
        <p:spPr>
          <a:xfrm>
            <a:off x="770463" y="1372789"/>
            <a:ext cx="7196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Montserrat" panose="00000500000000000000" pitchFamily="2" charset="0"/>
              </a:rPr>
              <a:t>"</a:t>
            </a:r>
            <a:r>
              <a:rPr lang="en-ID" dirty="0" err="1">
                <a:latin typeface="Montserrat" panose="00000500000000000000" pitchFamily="2" charset="0"/>
              </a:rPr>
              <a:t>Penyakit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kardiovaskular</a:t>
            </a:r>
            <a:r>
              <a:rPr lang="en-ID" dirty="0">
                <a:latin typeface="Montserrat" panose="00000500000000000000" pitchFamily="2" charset="0"/>
              </a:rPr>
              <a:t> (CVD) </a:t>
            </a:r>
            <a:r>
              <a:rPr lang="en-ID" dirty="0" err="1">
                <a:latin typeface="Montserrat" panose="00000500000000000000" pitchFamily="2" charset="0"/>
              </a:rPr>
              <a:t>merupakan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penyebab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kematian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nomor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satu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secara</a:t>
            </a:r>
            <a:r>
              <a:rPr lang="en-ID" dirty="0">
                <a:latin typeface="Montserrat" panose="00000500000000000000" pitchFamily="2" charset="0"/>
              </a:rPr>
              <a:t> global, </a:t>
            </a:r>
            <a:r>
              <a:rPr lang="en-ID" dirty="0" err="1">
                <a:latin typeface="Montserrat" panose="00000500000000000000" pitchFamily="2" charset="0"/>
              </a:rPr>
              <a:t>dengan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estimasi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b="1" dirty="0">
                <a:latin typeface="Montserrat" panose="00000500000000000000" pitchFamily="2" charset="0"/>
              </a:rPr>
              <a:t>17,9 </a:t>
            </a:r>
            <a:r>
              <a:rPr lang="en-ID" b="1" dirty="0" err="1">
                <a:latin typeface="Montserrat" panose="00000500000000000000" pitchFamily="2" charset="0"/>
              </a:rPr>
              <a:t>juta</a:t>
            </a:r>
            <a:r>
              <a:rPr lang="en-ID" b="1" dirty="0">
                <a:latin typeface="Montserrat" panose="00000500000000000000" pitchFamily="2" charset="0"/>
              </a:rPr>
              <a:t> </a:t>
            </a:r>
            <a:r>
              <a:rPr lang="en-ID" b="1" dirty="0" err="1">
                <a:latin typeface="Montserrat" panose="00000500000000000000" pitchFamily="2" charset="0"/>
              </a:rPr>
              <a:t>jiwa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meninggal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setiap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tahunnya</a:t>
            </a:r>
            <a:r>
              <a:rPr lang="en-ID" dirty="0">
                <a:latin typeface="Montserrat" panose="00000500000000000000" pitchFamily="2" charset="0"/>
              </a:rPr>
              <a:t>. </a:t>
            </a:r>
            <a:r>
              <a:rPr lang="en-ID" dirty="0" err="1">
                <a:latin typeface="Montserrat" panose="00000500000000000000" pitchFamily="2" charset="0"/>
              </a:rPr>
              <a:t>Tantangan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utama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dalam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penanganan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penyakit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ini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adalah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seringnya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gejala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muncul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terlambat</a:t>
            </a:r>
            <a:r>
              <a:rPr lang="en-ID" dirty="0">
                <a:latin typeface="Montserrat" panose="00000500000000000000" pitchFamily="2" charset="0"/>
              </a:rPr>
              <a:t>, </a:t>
            </a:r>
            <a:r>
              <a:rPr lang="en-ID" dirty="0" err="1">
                <a:latin typeface="Montserrat" panose="00000500000000000000" pitchFamily="2" charset="0"/>
              </a:rPr>
              <a:t>sehingga</a:t>
            </a:r>
            <a:r>
              <a:rPr lang="en-ID" dirty="0">
                <a:latin typeface="Montserrat" panose="00000500000000000000" pitchFamily="2" charset="0"/>
              </a:rPr>
              <a:t> diagnosis </a:t>
            </a:r>
            <a:r>
              <a:rPr lang="en-ID" dirty="0" err="1">
                <a:latin typeface="Montserrat" panose="00000500000000000000" pitchFamily="2" charset="0"/>
              </a:rPr>
              <a:t>dini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menjadi</a:t>
            </a:r>
            <a:r>
              <a:rPr lang="en-ID" dirty="0">
                <a:latin typeface="Montserrat" panose="00000500000000000000" pitchFamily="2" charset="0"/>
              </a:rPr>
              <a:t> sangat </a:t>
            </a:r>
            <a:r>
              <a:rPr lang="en-ID" dirty="0" err="1">
                <a:latin typeface="Montserrat" panose="00000500000000000000" pitchFamily="2" charset="0"/>
              </a:rPr>
              <a:t>krusial</a:t>
            </a:r>
            <a:r>
              <a:rPr lang="en-ID" dirty="0">
                <a:latin typeface="Montserrat" panose="00000500000000000000" pitchFamily="2" charset="0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4F6DAF-39FF-D67C-10CB-D61575E18B47}"/>
              </a:ext>
            </a:extLst>
          </p:cNvPr>
          <p:cNvSpPr txBox="1"/>
          <p:nvPr/>
        </p:nvSpPr>
        <p:spPr>
          <a:xfrm>
            <a:off x="770465" y="2340355"/>
            <a:ext cx="71966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Montserrat" panose="00000500000000000000" pitchFamily="2" charset="0"/>
              </a:rPr>
              <a:t>Berdasarkan</a:t>
            </a:r>
            <a:r>
              <a:rPr lang="en-ID" dirty="0">
                <a:latin typeface="Montserrat" panose="00000500000000000000" pitchFamily="2" charset="0"/>
              </a:rPr>
              <a:t> data </a:t>
            </a:r>
            <a:r>
              <a:rPr lang="en-ID" dirty="0" err="1">
                <a:latin typeface="Montserrat" panose="00000500000000000000" pitchFamily="2" charset="0"/>
              </a:rPr>
              <a:t>klinis</a:t>
            </a:r>
            <a:r>
              <a:rPr lang="en-ID" dirty="0">
                <a:latin typeface="Montserrat" panose="00000500000000000000" pitchFamily="2" charset="0"/>
              </a:rPr>
              <a:t> yang </a:t>
            </a:r>
            <a:r>
              <a:rPr lang="en-ID" dirty="0" err="1">
                <a:latin typeface="Montserrat" panose="00000500000000000000" pitchFamily="2" charset="0"/>
              </a:rPr>
              <a:t>mencakup</a:t>
            </a:r>
            <a:r>
              <a:rPr lang="en-ID" dirty="0">
                <a:latin typeface="Montserrat" panose="00000500000000000000" pitchFamily="2" charset="0"/>
              </a:rPr>
              <a:t> parameter </a:t>
            </a:r>
            <a:r>
              <a:rPr lang="en-ID" dirty="0" err="1">
                <a:latin typeface="Montserrat" panose="00000500000000000000" pitchFamily="2" charset="0"/>
              </a:rPr>
              <a:t>seperti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tekanan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darah</a:t>
            </a:r>
            <a:r>
              <a:rPr lang="en-ID" dirty="0">
                <a:latin typeface="Montserrat" panose="00000500000000000000" pitchFamily="2" charset="0"/>
              </a:rPr>
              <a:t>, </a:t>
            </a:r>
            <a:r>
              <a:rPr lang="en-ID" dirty="0" err="1">
                <a:latin typeface="Montserrat" panose="00000500000000000000" pitchFamily="2" charset="0"/>
              </a:rPr>
              <a:t>kolesterol</a:t>
            </a:r>
            <a:r>
              <a:rPr lang="en-ID" dirty="0">
                <a:latin typeface="Montserrat" panose="00000500000000000000" pitchFamily="2" charset="0"/>
              </a:rPr>
              <a:t>, dan </a:t>
            </a:r>
            <a:r>
              <a:rPr lang="en-ID" dirty="0" err="1">
                <a:latin typeface="Montserrat" panose="00000500000000000000" pitchFamily="2" charset="0"/>
              </a:rPr>
              <a:t>riwayat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kesehatan</a:t>
            </a:r>
            <a:r>
              <a:rPr lang="en-ID" dirty="0">
                <a:latin typeface="Montserrat" panose="00000500000000000000" pitchFamily="2" charset="0"/>
              </a:rPr>
              <a:t>, </a:t>
            </a:r>
            <a:r>
              <a:rPr lang="en-ID" dirty="0" err="1">
                <a:latin typeface="Montserrat" panose="00000500000000000000" pitchFamily="2" charset="0"/>
              </a:rPr>
              <a:t>teknologi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i="1" dirty="0">
                <a:latin typeface="Montserrat" panose="00000500000000000000" pitchFamily="2" charset="0"/>
              </a:rPr>
              <a:t>Machine Learning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menawarkan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solusi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untuk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memprediksi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risiko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penyakit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jantung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dengan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tingkat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akurasi</a:t>
            </a:r>
            <a:r>
              <a:rPr lang="en-ID" dirty="0">
                <a:latin typeface="Montserrat" panose="00000500000000000000" pitchFamily="2" charset="0"/>
              </a:rPr>
              <a:t> yang </a:t>
            </a:r>
            <a:r>
              <a:rPr lang="en-ID" dirty="0" err="1">
                <a:latin typeface="Montserrat" panose="00000500000000000000" pitchFamily="2" charset="0"/>
              </a:rPr>
              <a:t>lebih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tinggi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dibandingkan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metode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konvensional</a:t>
            </a:r>
            <a:r>
              <a:rPr lang="en-ID" dirty="0">
                <a:latin typeface="Montserrat" panose="00000500000000000000" pitchFamily="2" charset="0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A0179-DAAF-D937-830B-596B2B81FB2B}"/>
              </a:ext>
            </a:extLst>
          </p:cNvPr>
          <p:cNvSpPr txBox="1"/>
          <p:nvPr/>
        </p:nvSpPr>
        <p:spPr>
          <a:xfrm>
            <a:off x="770464" y="3307921"/>
            <a:ext cx="71966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Montserrat" panose="00000500000000000000" pitchFamily="2" charset="0"/>
              </a:rPr>
              <a:t>Melalui</a:t>
            </a:r>
            <a:r>
              <a:rPr lang="en-ID" dirty="0">
                <a:latin typeface="Montserrat" panose="00000500000000000000" pitchFamily="2" charset="0"/>
              </a:rPr>
              <a:t> dataset </a:t>
            </a:r>
            <a:r>
              <a:rPr lang="en-ID" dirty="0" err="1">
                <a:latin typeface="Montserrat" panose="00000500000000000000" pitchFamily="2" charset="0"/>
              </a:rPr>
              <a:t>ini</a:t>
            </a:r>
            <a:r>
              <a:rPr lang="en-ID" dirty="0">
                <a:latin typeface="Montserrat" panose="00000500000000000000" pitchFamily="2" charset="0"/>
              </a:rPr>
              <a:t>, </a:t>
            </a:r>
            <a:r>
              <a:rPr lang="en-ID" dirty="0" err="1">
                <a:latin typeface="Montserrat" panose="00000500000000000000" pitchFamily="2" charset="0"/>
              </a:rPr>
              <a:t>kita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bertujuan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mentransformasi</a:t>
            </a:r>
            <a:r>
              <a:rPr lang="en-ID" dirty="0">
                <a:latin typeface="Montserrat" panose="00000500000000000000" pitchFamily="2" charset="0"/>
              </a:rPr>
              <a:t> data </a:t>
            </a:r>
            <a:r>
              <a:rPr lang="en-ID" dirty="0" err="1">
                <a:latin typeface="Montserrat" panose="00000500000000000000" pitchFamily="2" charset="0"/>
              </a:rPr>
              <a:t>medis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mentah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menjadi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instrumen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pendukung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keputusan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klinis</a:t>
            </a:r>
            <a:r>
              <a:rPr lang="en-ID" dirty="0">
                <a:latin typeface="Montserrat" panose="00000500000000000000" pitchFamily="2" charset="0"/>
              </a:rPr>
              <a:t> yang </a:t>
            </a:r>
            <a:r>
              <a:rPr lang="en-ID" dirty="0" err="1">
                <a:latin typeface="Montserrat" panose="00000500000000000000" pitchFamily="2" charset="0"/>
              </a:rPr>
              <a:t>mampu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menyelamatkan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lebih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banyak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nyawa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melalui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intervensi</a:t>
            </a:r>
            <a:r>
              <a:rPr lang="en-ID" dirty="0">
                <a:latin typeface="Montserrat" panose="00000500000000000000" pitchFamily="2" charset="0"/>
              </a:rPr>
              <a:t> yang </a:t>
            </a:r>
            <a:r>
              <a:rPr lang="en-ID" dirty="0" err="1">
                <a:latin typeface="Montserrat" panose="00000500000000000000" pitchFamily="2" charset="0"/>
              </a:rPr>
              <a:t>tepat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waktu</a:t>
            </a:r>
            <a:r>
              <a:rPr lang="en-ID" dirty="0">
                <a:latin typeface="Montserrat" panose="00000500000000000000" pitchFamily="2" charset="0"/>
              </a:rPr>
              <a:t>."</a:t>
            </a:r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A2566-545A-DA54-4197-E7AC21BB5D36}"/>
              </a:ext>
            </a:extLst>
          </p:cNvPr>
          <p:cNvSpPr txBox="1"/>
          <p:nvPr/>
        </p:nvSpPr>
        <p:spPr>
          <a:xfrm>
            <a:off x="770464" y="4060044"/>
            <a:ext cx="48814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Montserrat" panose="00000500000000000000" pitchFamily="2" charset="0"/>
              </a:rPr>
              <a:t>Source: </a:t>
            </a:r>
            <a:r>
              <a:rPr lang="en-US" sz="1100" dirty="0">
                <a:solidFill>
                  <a:schemeClr val="accent1"/>
                </a:solidFill>
                <a:latin typeface="Montserrat" panose="00000500000000000000" pitchFamily="2" charset="0"/>
              </a:rPr>
              <a:t>https://www.who.int/health-topics/cardiovascular-diseases</a:t>
            </a:r>
            <a:endParaRPr lang="en-ID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DD099107-25F0-EB1B-6276-C6A8C9BAB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>
            <a:extLst>
              <a:ext uri="{FF2B5EF4-FFF2-40B4-BE49-F238E27FC236}">
                <a16:creationId xmlns:a16="http://schemas.microsoft.com/office/drawing/2014/main" id="{2605B192-2371-AC47-CD58-6862914DCAA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3075" y="1325875"/>
            <a:ext cx="27807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700" dirty="0">
                <a:solidFill>
                  <a:schemeClr val="lt1"/>
                </a:solidFill>
              </a:rPr>
              <a:t>Goals</a:t>
            </a:r>
            <a:endParaRPr sz="2700" dirty="0">
              <a:solidFill>
                <a:schemeClr val="lt1"/>
              </a:solidFill>
            </a:endParaRPr>
          </a:p>
        </p:txBody>
      </p:sp>
      <p:pic>
        <p:nvPicPr>
          <p:cNvPr id="20" name="Graphic 19" descr="Bullseye with solid fill">
            <a:extLst>
              <a:ext uri="{FF2B5EF4-FFF2-40B4-BE49-F238E27FC236}">
                <a16:creationId xmlns:a16="http://schemas.microsoft.com/office/drawing/2014/main" id="{50B9F992-BA75-4A92-78F0-CCB818356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3949" y="808761"/>
            <a:ext cx="726450" cy="7264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8ED219F-9497-AF0C-D3CC-FCE03A32D352}"/>
              </a:ext>
            </a:extLst>
          </p:cNvPr>
          <p:cNvSpPr txBox="1"/>
          <p:nvPr/>
        </p:nvSpPr>
        <p:spPr>
          <a:xfrm>
            <a:off x="4470396" y="764454"/>
            <a:ext cx="4258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Membangun</a:t>
            </a:r>
            <a:r>
              <a:rPr lang="en-ID" b="1" dirty="0">
                <a:solidFill>
                  <a:schemeClr val="accent2"/>
                </a:solidFill>
                <a:latin typeface="Montserrat" panose="00000500000000000000" pitchFamily="2" charset="0"/>
              </a:rPr>
              <a:t> Model </a:t>
            </a:r>
            <a:r>
              <a:rPr lang="en-ID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Klasifikasi</a:t>
            </a:r>
            <a:r>
              <a:rPr lang="en-ID" b="1" dirty="0">
                <a:solidFill>
                  <a:schemeClr val="accent2"/>
                </a:solidFill>
                <a:latin typeface="Montserrat" panose="00000500000000000000" pitchFamily="2" charset="0"/>
              </a:rPr>
              <a:t> yang </a:t>
            </a:r>
            <a:r>
              <a:rPr lang="en-ID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Akurat</a:t>
            </a:r>
            <a:endParaRPr lang="en-ID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pic>
        <p:nvPicPr>
          <p:cNvPr id="23" name="Graphic 22" descr="Hourglass Finished with solid fill">
            <a:extLst>
              <a:ext uri="{FF2B5EF4-FFF2-40B4-BE49-F238E27FC236}">
                <a16:creationId xmlns:a16="http://schemas.microsoft.com/office/drawing/2014/main" id="{C762A4DB-D217-A8C4-BC23-B28CD0358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3256" y="2010404"/>
            <a:ext cx="726450" cy="7264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5CE9C7B-00D2-8517-8481-ED50C6EFC8F3}"/>
              </a:ext>
            </a:extLst>
          </p:cNvPr>
          <p:cNvSpPr txBox="1"/>
          <p:nvPr/>
        </p:nvSpPr>
        <p:spPr>
          <a:xfrm>
            <a:off x="4479705" y="1938234"/>
            <a:ext cx="4258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Optimalisasi</a:t>
            </a:r>
            <a:r>
              <a:rPr lang="en-ID" b="1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Deteksi</a:t>
            </a:r>
            <a:r>
              <a:rPr lang="en-ID" b="1" dirty="0">
                <a:solidFill>
                  <a:schemeClr val="accent2"/>
                </a:solidFill>
                <a:latin typeface="Montserrat" panose="00000500000000000000" pitchFamily="2" charset="0"/>
              </a:rPr>
              <a:t> Dini yang </a:t>
            </a:r>
            <a:r>
              <a:rPr lang="en-ID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Efisien</a:t>
            </a:r>
            <a:endParaRPr lang="en-ID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pic>
        <p:nvPicPr>
          <p:cNvPr id="26" name="Graphic 25" descr="Lightbulb and gear with solid fill">
            <a:extLst>
              <a:ext uri="{FF2B5EF4-FFF2-40B4-BE49-F238E27FC236}">
                <a16:creationId xmlns:a16="http://schemas.microsoft.com/office/drawing/2014/main" id="{A8A59044-24F0-EA5C-7DB8-30A2829C7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3256" y="3210854"/>
            <a:ext cx="726450" cy="7264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250F4B3-B3F8-E607-AC32-B573A03F59D1}"/>
              </a:ext>
            </a:extLst>
          </p:cNvPr>
          <p:cNvSpPr txBox="1"/>
          <p:nvPr/>
        </p:nvSpPr>
        <p:spPr>
          <a:xfrm>
            <a:off x="4479705" y="3112014"/>
            <a:ext cx="4258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Identifikasi</a:t>
            </a:r>
            <a:r>
              <a:rPr lang="en-US" b="1" dirty="0">
                <a:solidFill>
                  <a:schemeClr val="accent2"/>
                </a:solidFill>
                <a:latin typeface="Montserrat" panose="00000500000000000000" pitchFamily="2" charset="0"/>
              </a:rPr>
              <a:t> Faktor Utama</a:t>
            </a:r>
            <a:endParaRPr lang="en-ID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6DA14D-5A5D-049D-0C72-80F59DBE45EC}"/>
              </a:ext>
            </a:extLst>
          </p:cNvPr>
          <p:cNvSpPr txBox="1"/>
          <p:nvPr/>
        </p:nvSpPr>
        <p:spPr>
          <a:xfrm>
            <a:off x="4479706" y="1080052"/>
            <a:ext cx="42587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050" dirty="0">
                <a:latin typeface="Montserrat" panose="00000500000000000000" pitchFamily="2" charset="0"/>
              </a:rPr>
              <a:t>Dapat </a:t>
            </a:r>
            <a:r>
              <a:rPr lang="en-ID" sz="1050" dirty="0" err="1">
                <a:latin typeface="Montserrat" panose="00000500000000000000" pitchFamily="2" charset="0"/>
              </a:rPr>
              <a:t>mengembangkan</a:t>
            </a:r>
            <a:r>
              <a:rPr lang="en-ID" sz="1050" dirty="0">
                <a:latin typeface="Montserrat" panose="00000500000000000000" pitchFamily="2" charset="0"/>
              </a:rPr>
              <a:t> model machine learning yang </a:t>
            </a:r>
            <a:r>
              <a:rPr lang="en-ID" sz="1050" dirty="0" err="1">
                <a:latin typeface="Montserrat" panose="00000500000000000000" pitchFamily="2" charset="0"/>
              </a:rPr>
              <a:t>mampu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mengklasifikasikan</a:t>
            </a:r>
            <a:r>
              <a:rPr lang="en-ID" sz="1050" dirty="0">
                <a:latin typeface="Montserrat" panose="00000500000000000000" pitchFamily="2" charset="0"/>
              </a:rPr>
              <a:t> status </a:t>
            </a:r>
            <a:r>
              <a:rPr lang="en-ID" sz="1050" dirty="0" err="1">
                <a:latin typeface="Montserrat" panose="00000500000000000000" pitchFamily="2" charset="0"/>
              </a:rPr>
              <a:t>kesehatan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jantung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pasien</a:t>
            </a:r>
            <a:r>
              <a:rPr lang="en-ID" sz="1050" dirty="0">
                <a:latin typeface="Montserrat" panose="00000500000000000000" pitchFamily="2" charset="0"/>
              </a:rPr>
              <a:t> (</a:t>
            </a:r>
            <a:r>
              <a:rPr lang="en-ID" sz="1050" dirty="0" err="1">
                <a:latin typeface="Montserrat" panose="00000500000000000000" pitchFamily="2" charset="0"/>
              </a:rPr>
              <a:t>sehat</a:t>
            </a:r>
            <a:r>
              <a:rPr lang="en-ID" sz="1050" dirty="0">
                <a:latin typeface="Montserrat" panose="00000500000000000000" pitchFamily="2" charset="0"/>
              </a:rPr>
              <a:t> vs. </a:t>
            </a:r>
            <a:r>
              <a:rPr lang="en-ID" sz="1050" dirty="0" err="1">
                <a:latin typeface="Montserrat" panose="00000500000000000000" pitchFamily="2" charset="0"/>
              </a:rPr>
              <a:t>berisiko</a:t>
            </a:r>
            <a:r>
              <a:rPr lang="en-ID" sz="1050" dirty="0">
                <a:latin typeface="Montserrat" panose="00000500000000000000" pitchFamily="2" charset="0"/>
              </a:rPr>
              <a:t>) </a:t>
            </a:r>
            <a:r>
              <a:rPr lang="en-ID" sz="1050" dirty="0" err="1">
                <a:latin typeface="Montserrat" panose="00000500000000000000" pitchFamily="2" charset="0"/>
              </a:rPr>
              <a:t>dengan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tingkat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presisi</a:t>
            </a:r>
            <a:r>
              <a:rPr lang="en-ID" sz="1050" dirty="0">
                <a:latin typeface="Montserrat" panose="00000500000000000000" pitchFamily="2" charset="0"/>
              </a:rPr>
              <a:t> dan recall yang </a:t>
            </a:r>
            <a:r>
              <a:rPr lang="en-ID" sz="1050" dirty="0" err="1">
                <a:latin typeface="Montserrat" panose="00000500000000000000" pitchFamily="2" charset="0"/>
              </a:rPr>
              <a:t>tinggi</a:t>
            </a:r>
            <a:r>
              <a:rPr lang="en-ID" sz="1050" dirty="0">
                <a:latin typeface="Montserrat" panose="00000500000000000000" pitchFamily="2" charset="0"/>
              </a:rPr>
              <a:t> guna </a:t>
            </a:r>
            <a:r>
              <a:rPr lang="en-ID" sz="1050" dirty="0" err="1">
                <a:latin typeface="Montserrat" panose="00000500000000000000" pitchFamily="2" charset="0"/>
              </a:rPr>
              <a:t>meminimalisir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kesalahan</a:t>
            </a:r>
            <a:r>
              <a:rPr lang="en-ID" sz="1050" dirty="0">
                <a:latin typeface="Montserrat" panose="00000500000000000000" pitchFamily="2" charset="0"/>
              </a:rPr>
              <a:t> diagnosis.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853308-5B4B-1501-AF22-67664B61AB59}"/>
              </a:ext>
            </a:extLst>
          </p:cNvPr>
          <p:cNvSpPr txBox="1"/>
          <p:nvPr/>
        </p:nvSpPr>
        <p:spPr>
          <a:xfrm>
            <a:off x="4479705" y="3420228"/>
            <a:ext cx="42587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050" dirty="0" err="1">
                <a:latin typeface="Montserrat" panose="00000500000000000000" pitchFamily="2" charset="0"/>
              </a:rPr>
              <a:t>Menganalisis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variabel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klinis</a:t>
            </a:r>
            <a:r>
              <a:rPr lang="en-ID" sz="1050" dirty="0">
                <a:latin typeface="Montserrat" panose="00000500000000000000" pitchFamily="2" charset="0"/>
              </a:rPr>
              <a:t> mana—</a:t>
            </a:r>
            <a:r>
              <a:rPr lang="en-ID" sz="1050" dirty="0" err="1">
                <a:latin typeface="Montserrat" panose="00000500000000000000" pitchFamily="2" charset="0"/>
              </a:rPr>
              <a:t>seperti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kolesterol</a:t>
            </a:r>
            <a:r>
              <a:rPr lang="en-ID" sz="1050" dirty="0">
                <a:latin typeface="Montserrat" panose="00000500000000000000" pitchFamily="2" charset="0"/>
              </a:rPr>
              <a:t>, </a:t>
            </a:r>
            <a:r>
              <a:rPr lang="en-ID" sz="1050" dirty="0" err="1">
                <a:latin typeface="Montserrat" panose="00000500000000000000" pitchFamily="2" charset="0"/>
              </a:rPr>
              <a:t>tekanan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darah</a:t>
            </a:r>
            <a:r>
              <a:rPr lang="en-ID" sz="1050" dirty="0">
                <a:latin typeface="Montserrat" panose="00000500000000000000" pitchFamily="2" charset="0"/>
              </a:rPr>
              <a:t>, </a:t>
            </a:r>
            <a:r>
              <a:rPr lang="en-ID" sz="1050" dirty="0" err="1">
                <a:latin typeface="Montserrat" panose="00000500000000000000" pitchFamily="2" charset="0"/>
              </a:rPr>
              <a:t>atau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jenis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nyeri</a:t>
            </a:r>
            <a:r>
              <a:rPr lang="en-ID" sz="1050" dirty="0">
                <a:latin typeface="Montserrat" panose="00000500000000000000" pitchFamily="2" charset="0"/>
              </a:rPr>
              <a:t> dada—yang </a:t>
            </a:r>
            <a:r>
              <a:rPr lang="en-ID" sz="1050" dirty="0" err="1">
                <a:latin typeface="Montserrat" panose="00000500000000000000" pitchFamily="2" charset="0"/>
              </a:rPr>
              <a:t>memiliki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pengaruh</a:t>
            </a:r>
            <a:r>
              <a:rPr lang="en-ID" sz="1050" dirty="0">
                <a:latin typeface="Montserrat" panose="00000500000000000000" pitchFamily="2" charset="0"/>
              </a:rPr>
              <a:t> paling </a:t>
            </a:r>
            <a:r>
              <a:rPr lang="en-ID" sz="1050" dirty="0" err="1">
                <a:latin typeface="Montserrat" panose="00000500000000000000" pitchFamily="2" charset="0"/>
              </a:rPr>
              <a:t>signifikan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terhadap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risiko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penyakit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jantung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berdasarkan</a:t>
            </a:r>
            <a:r>
              <a:rPr lang="en-ID" sz="1050" dirty="0">
                <a:latin typeface="Montserrat" panose="00000500000000000000" pitchFamily="2" charset="0"/>
              </a:rPr>
              <a:t> data.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530224-D132-A814-DF9A-A527DC01FB1D}"/>
              </a:ext>
            </a:extLst>
          </p:cNvPr>
          <p:cNvSpPr txBox="1"/>
          <p:nvPr/>
        </p:nvSpPr>
        <p:spPr>
          <a:xfrm>
            <a:off x="4470396" y="2269691"/>
            <a:ext cx="42587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050" dirty="0" err="1">
                <a:latin typeface="Montserrat" panose="00000500000000000000" pitchFamily="2" charset="0"/>
              </a:rPr>
              <a:t>menyediakan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sistem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penilaian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risiko</a:t>
            </a:r>
            <a:r>
              <a:rPr lang="en-ID" sz="1050" dirty="0">
                <a:latin typeface="Montserrat" panose="00000500000000000000" pitchFamily="2" charset="0"/>
              </a:rPr>
              <a:t> yang </a:t>
            </a:r>
            <a:r>
              <a:rPr lang="en-ID" sz="1050" dirty="0" err="1">
                <a:latin typeface="Montserrat" panose="00000500000000000000" pitchFamily="2" charset="0"/>
              </a:rPr>
              <a:t>cepat</a:t>
            </a:r>
            <a:r>
              <a:rPr lang="en-ID" sz="1050" dirty="0">
                <a:latin typeface="Montserrat" panose="00000500000000000000" pitchFamily="2" charset="0"/>
              </a:rPr>
              <a:t> dan </a:t>
            </a:r>
            <a:r>
              <a:rPr lang="en-ID" sz="1050" dirty="0" err="1">
                <a:latin typeface="Montserrat" panose="00000500000000000000" pitchFamily="2" charset="0"/>
              </a:rPr>
              <a:t>berbasis</a:t>
            </a:r>
            <a:r>
              <a:rPr lang="en-ID" sz="1050" dirty="0">
                <a:latin typeface="Montserrat" panose="00000500000000000000" pitchFamily="2" charset="0"/>
              </a:rPr>
              <a:t> data </a:t>
            </a:r>
            <a:r>
              <a:rPr lang="en-ID" sz="1050" dirty="0" err="1">
                <a:latin typeface="Montserrat" panose="00000500000000000000" pitchFamily="2" charset="0"/>
              </a:rPr>
              <a:t>untuk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membantu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tenaga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medis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dalam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melakukan</a:t>
            </a:r>
            <a:r>
              <a:rPr lang="en-ID" sz="1050" dirty="0">
                <a:latin typeface="Montserrat" panose="00000500000000000000" pitchFamily="2" charset="0"/>
              </a:rPr>
              <a:t> screening </a:t>
            </a:r>
            <a:r>
              <a:rPr lang="en-ID" sz="1050" dirty="0" err="1">
                <a:latin typeface="Montserrat" panose="00000500000000000000" pitchFamily="2" charset="0"/>
              </a:rPr>
              <a:t>awal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secara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lebih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efisien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sebelum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dilakukan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prosedur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medis</a:t>
            </a:r>
            <a:r>
              <a:rPr lang="en-ID" sz="1050" dirty="0">
                <a:latin typeface="Montserrat" panose="00000500000000000000" pitchFamily="2" charset="0"/>
              </a:rPr>
              <a:t> yang </a:t>
            </a:r>
            <a:r>
              <a:rPr lang="en-ID" sz="1050" dirty="0" err="1">
                <a:latin typeface="Montserrat" panose="00000500000000000000" pitchFamily="2" charset="0"/>
              </a:rPr>
              <a:t>lebih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kompleks</a:t>
            </a:r>
            <a:r>
              <a:rPr lang="en-ID" sz="105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251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A5BA0982-F76A-96A2-AF7A-BD02255F0DFC}"/>
              </a:ext>
            </a:extLst>
          </p:cNvPr>
          <p:cNvSpPr txBox="1">
            <a:spLocks/>
          </p:cNvSpPr>
          <p:nvPr/>
        </p:nvSpPr>
        <p:spPr>
          <a:xfrm>
            <a:off x="787400" y="1551600"/>
            <a:ext cx="5511500" cy="20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US" sz="4800" dirty="0">
                <a:solidFill>
                  <a:schemeClr val="lt1"/>
                </a:solidFill>
              </a:rPr>
              <a:t>Data</a:t>
            </a:r>
          </a:p>
          <a:p>
            <a:pPr>
              <a:buSzPts val="3600"/>
            </a:pPr>
            <a:r>
              <a:rPr lang="en-US" sz="4800" dirty="0">
                <a:solidFill>
                  <a:schemeClr val="lt1"/>
                </a:solidFill>
              </a:rPr>
              <a:t>Understanding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988A80D9-971B-E7AB-3AC4-405DF3427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>
            <a:extLst>
              <a:ext uri="{FF2B5EF4-FFF2-40B4-BE49-F238E27FC236}">
                <a16:creationId xmlns:a16="http://schemas.microsoft.com/office/drawing/2014/main" id="{BFEE9176-4230-95D9-9D64-041C23C97FC8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44174" y="1138496"/>
            <a:ext cx="3030825" cy="1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700" dirty="0">
                <a:solidFill>
                  <a:schemeClr val="lt1"/>
                </a:solidFill>
              </a:rPr>
              <a:t>Data Understanding</a:t>
            </a:r>
            <a:endParaRPr sz="2700" dirty="0">
              <a:solidFill>
                <a:schemeClr val="l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32EB8-6066-5B59-6A8D-06CC5EBD62D4}"/>
              </a:ext>
            </a:extLst>
          </p:cNvPr>
          <p:cNvSpPr txBox="1"/>
          <p:nvPr/>
        </p:nvSpPr>
        <p:spPr>
          <a:xfrm>
            <a:off x="5123012" y="2193710"/>
            <a:ext cx="20487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Penjelasan</a:t>
            </a:r>
            <a:r>
              <a:rPr lang="en-US" b="1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Variabel</a:t>
            </a:r>
            <a:endParaRPr lang="en-ID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B29393-8412-22DD-FDEF-3053B6DEF992}"/>
              </a:ext>
            </a:extLst>
          </p:cNvPr>
          <p:cNvSpPr txBox="1"/>
          <p:nvPr/>
        </p:nvSpPr>
        <p:spPr>
          <a:xfrm>
            <a:off x="3654808" y="2562185"/>
            <a:ext cx="244747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1. </a:t>
            </a:r>
            <a:r>
              <a:rPr lang="en-ID" sz="8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Profil</a:t>
            </a: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 &amp; </a:t>
            </a:r>
            <a:r>
              <a:rPr lang="en-ID" sz="8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Kondisi</a:t>
            </a: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Pasien</a:t>
            </a:r>
            <a:endParaRPr lang="en-ID" sz="800" dirty="0">
              <a:solidFill>
                <a:schemeClr val="accent2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Age &amp; Sex: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Usia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(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tahun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) dan Jenis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Kelamin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(1: L, 0: P).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CP (Chest Pain):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Tipe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nyeri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dada (Skala 1–4,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dari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angina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hingga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nyeri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non-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jantung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Trestbps</a:t>
            </a: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Tekanan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darah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saat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istirahat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(mmHg).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Chol: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Kadar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kolesterol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serum (mg/dl).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FBS: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Gula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darah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puasa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(&gt;120 mg/dl = 1, &lt;120 mg/dl = 0).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424E2-9643-00F7-8F78-801C06F27BED}"/>
              </a:ext>
            </a:extLst>
          </p:cNvPr>
          <p:cNvSpPr txBox="1"/>
          <p:nvPr/>
        </p:nvSpPr>
        <p:spPr>
          <a:xfrm>
            <a:off x="72086" y="2313598"/>
            <a:ext cx="3174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1000" b="0" i="0" dirty="0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Dataset yang </a:t>
            </a:r>
            <a:r>
              <a:rPr lang="en-ID" sz="1000" b="0" i="0" dirty="0" err="1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digunakan</a:t>
            </a:r>
            <a:r>
              <a:rPr lang="en-ID" sz="1000" b="0" i="0" dirty="0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adalah</a:t>
            </a:r>
            <a:r>
              <a:rPr lang="en-ID" sz="1000" b="0" i="0" dirty="0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 data Heart Disease yang </a:t>
            </a:r>
            <a:r>
              <a:rPr lang="en-ID" sz="1000" b="0" i="0" dirty="0" err="1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diunduh</a:t>
            </a:r>
            <a:r>
              <a:rPr lang="en-ID" sz="1000" b="0" i="0" dirty="0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dari</a:t>
            </a:r>
            <a:r>
              <a:rPr lang="en-ID" sz="1000" b="0" i="0" dirty="0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 UCI ML: </a:t>
            </a:r>
          </a:p>
          <a:p>
            <a:pPr algn="l">
              <a:buNone/>
            </a:pPr>
            <a:r>
              <a:rPr lang="en-ID" sz="1000" b="0" i="0" dirty="0">
                <a:solidFill>
                  <a:srgbClr val="A8C7FA"/>
                </a:solidFill>
                <a:effectLst/>
                <a:latin typeface="Montserrat" panose="00000500000000000000" pitchFamily="2" charset="0"/>
                <a:hlinkClick r:id="rId3"/>
              </a:rPr>
              <a:t>https://archive.ics.uci.edu/dataset/45/heart+disease</a:t>
            </a:r>
            <a:endParaRPr lang="en-ID" sz="1000" b="0" i="0" dirty="0">
              <a:solidFill>
                <a:srgbClr val="A8C7FA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C291D-01B7-3C10-B759-90786A4A035D}"/>
              </a:ext>
            </a:extLst>
          </p:cNvPr>
          <p:cNvSpPr txBox="1"/>
          <p:nvPr/>
        </p:nvSpPr>
        <p:spPr>
          <a:xfrm>
            <a:off x="72086" y="2773897"/>
            <a:ext cx="31749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ID" sz="1000" b="1" i="0" dirty="0">
              <a:solidFill>
                <a:srgbClr val="E3E3E3"/>
              </a:solidFill>
              <a:effectLst/>
              <a:latin typeface="Montserrat" panose="00000500000000000000" pitchFamily="2" charset="0"/>
            </a:endParaRPr>
          </a:p>
          <a:p>
            <a:pPr algn="l">
              <a:buNone/>
            </a:pPr>
            <a:r>
              <a:rPr lang="en-ID" sz="1000" b="1" dirty="0" err="1">
                <a:solidFill>
                  <a:srgbClr val="E3E3E3"/>
                </a:solidFill>
                <a:latin typeface="Montserrat" panose="00000500000000000000" pitchFamily="2" charset="0"/>
              </a:rPr>
              <a:t>T</a:t>
            </a:r>
            <a:r>
              <a:rPr lang="en-ID" sz="1000" b="1" i="0" dirty="0" err="1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erdiri</a:t>
            </a:r>
            <a:r>
              <a:rPr lang="en-ID" sz="1000" b="1" i="0" dirty="0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1" i="0" dirty="0" err="1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dari</a:t>
            </a:r>
            <a:r>
              <a:rPr lang="en-ID" sz="1000" b="1" dirty="0">
                <a:solidFill>
                  <a:srgbClr val="E3E3E3"/>
                </a:solidFill>
                <a:latin typeface="Montserrat" panose="00000500000000000000" pitchFamily="2" charset="0"/>
              </a:rPr>
              <a:t>: </a:t>
            </a:r>
            <a:r>
              <a:rPr lang="en-ID" sz="1000" b="1" i="0" dirty="0">
                <a:solidFill>
                  <a:srgbClr val="E3E3E3"/>
                </a:solidFill>
                <a:effectLst/>
                <a:latin typeface="Montserrat" panose="00000500000000000000" pitchFamily="2" charset="0"/>
              </a:rPr>
              <a:t> 1025 Records x (13 Attribute + 1 Target)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5DEF3B-D379-CC96-E51D-112C78B66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691" y="970225"/>
            <a:ext cx="4651419" cy="11774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A5E6B5-A9C1-1840-B301-08874AEFFE7E}"/>
              </a:ext>
            </a:extLst>
          </p:cNvPr>
          <p:cNvSpPr txBox="1"/>
          <p:nvPr/>
        </p:nvSpPr>
        <p:spPr>
          <a:xfrm>
            <a:off x="6219486" y="2562185"/>
            <a:ext cx="258668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2. Hasil Uji </a:t>
            </a:r>
            <a:r>
              <a:rPr lang="en-ID" sz="8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Klinis</a:t>
            </a: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 &amp; </a:t>
            </a:r>
            <a:r>
              <a:rPr lang="en-ID" sz="8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Diagnostik</a:t>
            </a:r>
            <a:endParaRPr lang="en-ID" sz="800" dirty="0">
              <a:solidFill>
                <a:schemeClr val="accent2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RestECG</a:t>
            </a: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Hasil EKG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saat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istirahat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(Normal,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Kelainan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ST-T,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atau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Hipertrofi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Thalach</a:t>
            </a: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Detak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jantung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maksimal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saat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olahraga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(bpm).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Exang</a:t>
            </a: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Nyeri dada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akibat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olahraga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(1: Ya, 0: Tidak).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Oldpeak</a:t>
            </a: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 &amp; Slope: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Tingkat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depresi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dan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kemiringan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segmen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ST pada EKG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saat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fisik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maksimal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CA: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Jumlah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pembuluh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darah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utama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(0–3) yang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terlihat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pada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fluoroskopi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Thal: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Hasil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Tes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Thallium (1: Normal, 2: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Defek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tetap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, 3: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Defek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pulih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88977D-B333-35A5-B0B6-403C0BBF0CD6}"/>
              </a:ext>
            </a:extLst>
          </p:cNvPr>
          <p:cNvSpPr txBox="1"/>
          <p:nvPr/>
        </p:nvSpPr>
        <p:spPr>
          <a:xfrm>
            <a:off x="4406157" y="4148320"/>
            <a:ext cx="16961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3. Target </a:t>
            </a:r>
            <a:r>
              <a:rPr lang="en-ID" sz="8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Variabel</a:t>
            </a:r>
            <a:endParaRPr lang="en-ID" sz="800" dirty="0">
              <a:solidFill>
                <a:schemeClr val="accent2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>
                <a:solidFill>
                  <a:schemeClr val="accent2"/>
                </a:solidFill>
                <a:latin typeface="Montserrat" panose="00000500000000000000" pitchFamily="2" charset="0"/>
              </a:rPr>
              <a:t>Target: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 Label </a:t>
            </a:r>
            <a:r>
              <a:rPr lang="en-ID" sz="8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klasifikasi</a:t>
            </a:r>
            <a:r>
              <a:rPr lang="en-ID" sz="800" dirty="0">
                <a:solidFill>
                  <a:schemeClr val="accent2"/>
                </a:solidFill>
                <a:latin typeface="Montserrat" panose="00000500000000000000" pitchFamily="2" charset="0"/>
              </a:rPr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3E908B0-D5AA-8C1C-4078-C5416A55AB6D}"/>
              </a:ext>
            </a:extLst>
          </p:cNvPr>
          <p:cNvCxnSpPr>
            <a:cxnSpLocks/>
          </p:cNvCxnSpPr>
          <p:nvPr/>
        </p:nvCxnSpPr>
        <p:spPr>
          <a:xfrm>
            <a:off x="3699931" y="4043174"/>
            <a:ext cx="2447469" cy="0"/>
          </a:xfrm>
          <a:prstGeom prst="line">
            <a:avLst/>
          </a:prstGeom>
          <a:ln>
            <a:solidFill>
              <a:srgbClr val="554C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6E6B9F-E680-6485-7418-92AACCF11695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6147402" y="2501487"/>
            <a:ext cx="0" cy="2159413"/>
          </a:xfrm>
          <a:prstGeom prst="line">
            <a:avLst/>
          </a:prstGeom>
          <a:ln>
            <a:solidFill>
              <a:srgbClr val="554C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713AD6-D9BE-3CAF-E209-454C410706FC}"/>
              </a:ext>
            </a:extLst>
          </p:cNvPr>
          <p:cNvCxnSpPr>
            <a:cxnSpLocks/>
          </p:cNvCxnSpPr>
          <p:nvPr/>
        </p:nvCxnSpPr>
        <p:spPr>
          <a:xfrm>
            <a:off x="6147402" y="4492139"/>
            <a:ext cx="2658767" cy="0"/>
          </a:xfrm>
          <a:prstGeom prst="line">
            <a:avLst/>
          </a:prstGeom>
          <a:ln>
            <a:solidFill>
              <a:srgbClr val="554C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0376D76-B411-A48B-8ED7-52135226CB6D}"/>
              </a:ext>
            </a:extLst>
          </p:cNvPr>
          <p:cNvCxnSpPr>
            <a:cxnSpLocks/>
          </p:cNvCxnSpPr>
          <p:nvPr/>
        </p:nvCxnSpPr>
        <p:spPr>
          <a:xfrm>
            <a:off x="4818018" y="2501487"/>
            <a:ext cx="2658767" cy="0"/>
          </a:xfrm>
          <a:prstGeom prst="line">
            <a:avLst/>
          </a:prstGeom>
          <a:ln>
            <a:solidFill>
              <a:srgbClr val="554C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28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61DDE69-22C3-1F64-F3C7-F0F3C2A57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09D4E645-79F4-AE91-0B93-D3A5BEE499E3}"/>
              </a:ext>
            </a:extLst>
          </p:cNvPr>
          <p:cNvSpPr txBox="1">
            <a:spLocks/>
          </p:cNvSpPr>
          <p:nvPr/>
        </p:nvSpPr>
        <p:spPr>
          <a:xfrm>
            <a:off x="787400" y="1551600"/>
            <a:ext cx="5511500" cy="20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US" sz="4800" dirty="0">
                <a:solidFill>
                  <a:schemeClr val="lt1"/>
                </a:solidFill>
              </a:rPr>
              <a:t>Data</a:t>
            </a:r>
          </a:p>
          <a:p>
            <a:pPr>
              <a:buSzPts val="3600"/>
            </a:pPr>
            <a:r>
              <a:rPr lang="en-US" sz="4800" dirty="0">
                <a:solidFill>
                  <a:schemeClr val="lt1"/>
                </a:solidFill>
              </a:rPr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790021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0F1F7FE-0566-6CB4-8C5B-F9D7E030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>
            <a:extLst>
              <a:ext uri="{FF2B5EF4-FFF2-40B4-BE49-F238E27FC236}">
                <a16:creationId xmlns:a16="http://schemas.microsoft.com/office/drawing/2014/main" id="{655AB798-A39B-90AE-2190-B2844BED556E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5739" y="1686560"/>
            <a:ext cx="3030825" cy="1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700" dirty="0">
                <a:solidFill>
                  <a:schemeClr val="lt1"/>
                </a:solidFill>
              </a:rPr>
              <a:t>Data </a:t>
            </a:r>
            <a:br>
              <a:rPr lang="en-US" sz="2700" dirty="0">
                <a:solidFill>
                  <a:schemeClr val="lt1"/>
                </a:solidFill>
              </a:rPr>
            </a:br>
            <a:r>
              <a:rPr lang="en-US" sz="2700" dirty="0">
                <a:solidFill>
                  <a:schemeClr val="lt1"/>
                </a:solidFill>
              </a:rPr>
              <a:t>Cleansing</a:t>
            </a:r>
            <a:endParaRPr sz="2700" dirty="0">
              <a:solidFill>
                <a:schemeClr val="l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D572FB-4B37-EBB9-5D51-43E53E730B6B}"/>
              </a:ext>
            </a:extLst>
          </p:cNvPr>
          <p:cNvSpPr txBox="1"/>
          <p:nvPr/>
        </p:nvSpPr>
        <p:spPr>
          <a:xfrm>
            <a:off x="3640909" y="4164834"/>
            <a:ext cx="53168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 err="1">
                <a:latin typeface="Montserrat" panose="00000500000000000000" pitchFamily="2" charset="0"/>
              </a:rPr>
              <a:t>Melakukan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perubahan</a:t>
            </a:r>
            <a:r>
              <a:rPr lang="en-ID" sz="1200" dirty="0">
                <a:latin typeface="Montserrat" panose="00000500000000000000" pitchFamily="2" charset="0"/>
              </a:rPr>
              <a:t> pada </a:t>
            </a:r>
            <a:r>
              <a:rPr lang="en-ID" sz="1200" dirty="0" err="1">
                <a:latin typeface="Montserrat" panose="00000500000000000000" pitchFamily="2" charset="0"/>
              </a:rPr>
              <a:t>tipe</a:t>
            </a:r>
            <a:r>
              <a:rPr lang="en-ID" sz="1200" dirty="0">
                <a:latin typeface="Montserrat" panose="00000500000000000000" pitchFamily="2" charset="0"/>
              </a:rPr>
              <a:t> data </a:t>
            </a:r>
            <a:r>
              <a:rPr lang="en-ID" sz="1200" dirty="0" err="1">
                <a:latin typeface="Montserrat" panose="00000500000000000000" pitchFamily="2" charset="0"/>
              </a:rPr>
              <a:t>untuk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kebutuhan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identifikasi</a:t>
            </a:r>
            <a:r>
              <a:rPr lang="en-ID" sz="1200" dirty="0">
                <a:latin typeface="Montserrat" panose="00000500000000000000" pitchFamily="2" charset="0"/>
              </a:rPr>
              <a:t> dan </a:t>
            </a:r>
            <a:r>
              <a:rPr lang="en-ID" sz="1200" dirty="0" err="1">
                <a:latin typeface="Montserrat" panose="00000500000000000000" pitchFamily="2" charset="0"/>
              </a:rPr>
              <a:t>penanganan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kesalahan</a:t>
            </a:r>
            <a:endParaRPr lang="en-ID" sz="1200" dirty="0">
              <a:latin typeface="Montserrat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241BA0-31A0-F88C-DE4B-004719C71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788" y="517001"/>
            <a:ext cx="948023" cy="35180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00122D-6EF5-53CB-0C34-54B3F16C6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891" y="517001"/>
            <a:ext cx="924618" cy="3518056"/>
          </a:xfrm>
          <a:prstGeom prst="rect">
            <a:avLst/>
          </a:prstGeom>
        </p:spPr>
      </p:pic>
      <p:pic>
        <p:nvPicPr>
          <p:cNvPr id="16" name="Graphic 15" descr="Chevron arrows with solid fill">
            <a:extLst>
              <a:ext uri="{FF2B5EF4-FFF2-40B4-BE49-F238E27FC236}">
                <a16:creationId xmlns:a16="http://schemas.microsoft.com/office/drawing/2014/main" id="{D21DF809-81F0-665C-66D1-DDBFAAF267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8348" y="1792943"/>
            <a:ext cx="1118238" cy="111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4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64B50536-B681-1F17-B900-AAA80488B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>
            <a:extLst>
              <a:ext uri="{FF2B5EF4-FFF2-40B4-BE49-F238E27FC236}">
                <a16:creationId xmlns:a16="http://schemas.microsoft.com/office/drawing/2014/main" id="{F0E7B72D-F625-D27F-7AC4-1E7738777EE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5739" y="1686560"/>
            <a:ext cx="3030825" cy="1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700" dirty="0">
                <a:solidFill>
                  <a:schemeClr val="lt1"/>
                </a:solidFill>
              </a:rPr>
              <a:t>Data </a:t>
            </a:r>
            <a:br>
              <a:rPr lang="en-US" sz="2700" dirty="0">
                <a:solidFill>
                  <a:schemeClr val="lt1"/>
                </a:solidFill>
              </a:rPr>
            </a:br>
            <a:r>
              <a:rPr lang="en-US" sz="2700" dirty="0">
                <a:solidFill>
                  <a:schemeClr val="lt1"/>
                </a:solidFill>
              </a:rPr>
              <a:t>Cleansing</a:t>
            </a:r>
            <a:endParaRPr sz="2700" dirty="0">
              <a:solidFill>
                <a:schemeClr val="l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1AC307-15E8-9322-34CA-9E0FDC71E93D}"/>
              </a:ext>
            </a:extLst>
          </p:cNvPr>
          <p:cNvSpPr txBox="1"/>
          <p:nvPr/>
        </p:nvSpPr>
        <p:spPr>
          <a:xfrm>
            <a:off x="3598576" y="752767"/>
            <a:ext cx="53168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 err="1">
                <a:latin typeface="Montserrat" panose="00000500000000000000" pitchFamily="2" charset="0"/>
              </a:rPr>
              <a:t>Melakukan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pelabelan</a:t>
            </a:r>
            <a:r>
              <a:rPr lang="en-ID" sz="1200" dirty="0">
                <a:latin typeface="Montserrat" panose="00000500000000000000" pitchFamily="2" charset="0"/>
              </a:rPr>
              <a:t> dan </a:t>
            </a:r>
            <a:r>
              <a:rPr lang="en-ID" sz="1200" dirty="0" err="1">
                <a:latin typeface="Montserrat" panose="00000500000000000000" pitchFamily="2" charset="0"/>
              </a:rPr>
              <a:t>pengecekan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nilai</a:t>
            </a:r>
            <a:r>
              <a:rPr lang="en-ID" sz="1200" dirty="0">
                <a:latin typeface="Montserrat" panose="00000500000000000000" pitchFamily="2" charset="0"/>
              </a:rPr>
              <a:t> pada data </a:t>
            </a:r>
            <a:r>
              <a:rPr lang="en-ID" sz="1200" dirty="0" err="1">
                <a:latin typeface="Montserrat" panose="00000500000000000000" pitchFamily="2" charset="0"/>
              </a:rPr>
              <a:t>kategorik</a:t>
            </a:r>
            <a:r>
              <a:rPr lang="en-ID" sz="1200" dirty="0">
                <a:latin typeface="Montserrat" panose="00000500000000000000" pitchFamily="2" charset="0"/>
              </a:rPr>
              <a:t>. Fitur yang </a:t>
            </a:r>
            <a:r>
              <a:rPr lang="en-ID" sz="1200" dirty="0" err="1">
                <a:latin typeface="Montserrat" panose="00000500000000000000" pitchFamily="2" charset="0"/>
              </a:rPr>
              <a:t>dikategorikan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antara</a:t>
            </a:r>
            <a:r>
              <a:rPr lang="en-ID" sz="1200" dirty="0">
                <a:latin typeface="Montserrat" panose="00000500000000000000" pitchFamily="2" charset="0"/>
              </a:rPr>
              <a:t> lain: sex, cp, </a:t>
            </a:r>
            <a:r>
              <a:rPr lang="en-ID" sz="1200" dirty="0" err="1">
                <a:latin typeface="Montserrat" panose="00000500000000000000" pitchFamily="2" charset="0"/>
              </a:rPr>
              <a:t>fbs</a:t>
            </a:r>
            <a:r>
              <a:rPr lang="en-ID" sz="1200" dirty="0">
                <a:latin typeface="Montserrat" panose="00000500000000000000" pitchFamily="2" charset="0"/>
              </a:rPr>
              <a:t>, </a:t>
            </a:r>
            <a:r>
              <a:rPr lang="en-ID" sz="1200" dirty="0" err="1">
                <a:latin typeface="Montserrat" panose="00000500000000000000" pitchFamily="2" charset="0"/>
              </a:rPr>
              <a:t>restecg</a:t>
            </a:r>
            <a:r>
              <a:rPr lang="en-ID" sz="1200" dirty="0">
                <a:latin typeface="Montserrat" panose="00000500000000000000" pitchFamily="2" charset="0"/>
              </a:rPr>
              <a:t>, </a:t>
            </a:r>
            <a:r>
              <a:rPr lang="en-ID" sz="1200" dirty="0" err="1">
                <a:latin typeface="Montserrat" panose="00000500000000000000" pitchFamily="2" charset="0"/>
              </a:rPr>
              <a:t>exang</a:t>
            </a:r>
            <a:r>
              <a:rPr lang="en-ID" sz="1200" dirty="0">
                <a:latin typeface="Montserrat" panose="00000500000000000000" pitchFamily="2" charset="0"/>
              </a:rPr>
              <a:t>, slope, </a:t>
            </a:r>
            <a:r>
              <a:rPr lang="en-ID" sz="1200" dirty="0" err="1">
                <a:latin typeface="Montserrat" panose="00000500000000000000" pitchFamily="2" charset="0"/>
              </a:rPr>
              <a:t>tal</a:t>
            </a:r>
            <a:r>
              <a:rPr lang="en-ID" sz="1200" dirty="0">
                <a:latin typeface="Montserrat" panose="00000500000000000000" pitchFamily="2" charset="0"/>
              </a:rPr>
              <a:t>, ca dan target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E35662-A633-80EC-8CC5-25261F110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685" y="1518699"/>
            <a:ext cx="5343932" cy="210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89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BE656B1-E13C-2EE2-18D2-A2689717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>
            <a:extLst>
              <a:ext uri="{FF2B5EF4-FFF2-40B4-BE49-F238E27FC236}">
                <a16:creationId xmlns:a16="http://schemas.microsoft.com/office/drawing/2014/main" id="{5452F29F-1A9F-6797-9DE8-9BFD6284671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5739" y="1686560"/>
            <a:ext cx="3030825" cy="1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700" dirty="0">
                <a:solidFill>
                  <a:schemeClr val="lt1"/>
                </a:solidFill>
              </a:rPr>
              <a:t>Data </a:t>
            </a:r>
            <a:br>
              <a:rPr lang="en-US" sz="2700" dirty="0">
                <a:solidFill>
                  <a:schemeClr val="lt1"/>
                </a:solidFill>
              </a:rPr>
            </a:br>
            <a:r>
              <a:rPr lang="en-US" sz="2700" dirty="0">
                <a:solidFill>
                  <a:schemeClr val="lt1"/>
                </a:solidFill>
              </a:rPr>
              <a:t>Cleansing</a:t>
            </a:r>
            <a:endParaRPr sz="2700" dirty="0">
              <a:solidFill>
                <a:schemeClr val="l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8AB84F-8803-29FC-204B-E888ED9E93E6}"/>
              </a:ext>
            </a:extLst>
          </p:cNvPr>
          <p:cNvSpPr txBox="1"/>
          <p:nvPr/>
        </p:nvSpPr>
        <p:spPr>
          <a:xfrm>
            <a:off x="3579526" y="689266"/>
            <a:ext cx="531682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 err="1">
                <a:latin typeface="Montserrat" panose="00000500000000000000" pitchFamily="2" charset="0"/>
              </a:rPr>
              <a:t>Melakukan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b="1" dirty="0" err="1">
                <a:latin typeface="Montserrat" panose="00000500000000000000" pitchFamily="2" charset="0"/>
              </a:rPr>
              <a:t>Imputasi</a:t>
            </a:r>
            <a:r>
              <a:rPr lang="en-ID" sz="1100" b="1" dirty="0">
                <a:latin typeface="Montserrat" panose="00000500000000000000" pitchFamily="2" charset="0"/>
              </a:rPr>
              <a:t> Modus</a:t>
            </a:r>
            <a:r>
              <a:rPr lang="en-ID" sz="1100" dirty="0">
                <a:latin typeface="Montserrat" panose="00000500000000000000" pitchFamily="2" charset="0"/>
              </a:rPr>
              <a:t>, </a:t>
            </a:r>
            <a:r>
              <a:rPr lang="en-ID" sz="1100" dirty="0" err="1">
                <a:latin typeface="Montserrat" panose="00000500000000000000" pitchFamily="2" charset="0"/>
              </a:rPr>
              <a:t>yaitu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mengganti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nilai</a:t>
            </a:r>
            <a:r>
              <a:rPr lang="en-ID" sz="1100" dirty="0">
                <a:latin typeface="Montserrat" panose="00000500000000000000" pitchFamily="2" charset="0"/>
              </a:rPr>
              <a:t> yang salah </a:t>
            </a:r>
            <a:r>
              <a:rPr lang="en-ID" sz="1100" dirty="0" err="1">
                <a:latin typeface="Montserrat" panose="00000500000000000000" pitchFamily="2" charset="0"/>
              </a:rPr>
              <a:t>dengan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nilai</a:t>
            </a:r>
            <a:r>
              <a:rPr lang="en-ID" sz="1100" dirty="0">
                <a:latin typeface="Montserrat" panose="00000500000000000000" pitchFamily="2" charset="0"/>
              </a:rPr>
              <a:t> yang paling </a:t>
            </a:r>
            <a:r>
              <a:rPr lang="en-ID" sz="1100" dirty="0" err="1">
                <a:latin typeface="Montserrat" panose="00000500000000000000" pitchFamily="2" charset="0"/>
              </a:rPr>
              <a:t>sering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muncul</a:t>
            </a:r>
            <a:r>
              <a:rPr lang="en-ID" sz="1100" dirty="0">
                <a:latin typeface="Montserrat" panose="00000500000000000000" pitchFamily="2" charset="0"/>
              </a:rPr>
              <a:t> pada masing-masing </a:t>
            </a:r>
            <a:r>
              <a:rPr lang="en-ID" sz="1100" dirty="0" err="1">
                <a:latin typeface="Montserrat" panose="00000500000000000000" pitchFamily="2" charset="0"/>
              </a:rPr>
              <a:t>fitur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dengan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kesalahan</a:t>
            </a:r>
            <a:r>
              <a:rPr lang="en-ID" sz="1100" dirty="0">
                <a:latin typeface="Montserrat" panose="00000500000000000000" pitchFamily="2" charset="0"/>
              </a:rPr>
              <a:t> input agar </a:t>
            </a:r>
            <a:r>
              <a:rPr lang="en-ID" sz="1100" dirty="0" err="1">
                <a:latin typeface="Montserrat" panose="00000500000000000000" pitchFamily="2" charset="0"/>
              </a:rPr>
              <a:t>karakteristik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asli</a:t>
            </a:r>
            <a:r>
              <a:rPr lang="en-ID" sz="1100" dirty="0">
                <a:latin typeface="Montserrat" panose="00000500000000000000" pitchFamily="2" charset="0"/>
              </a:rPr>
              <a:t> data </a:t>
            </a:r>
            <a:r>
              <a:rPr lang="en-ID" sz="1100" dirty="0" err="1">
                <a:latin typeface="Montserrat" panose="00000500000000000000" pitchFamily="2" charset="0"/>
              </a:rPr>
              <a:t>tetap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terjaga</a:t>
            </a:r>
            <a:r>
              <a:rPr lang="en-ID" sz="11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76401A-4E63-FF09-4D01-3DC56E93E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114" y="1425255"/>
            <a:ext cx="1457486" cy="1300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3FFF74-BF07-392A-DA56-D14F1B364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078" y="1425255"/>
            <a:ext cx="1732132" cy="1300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208329-2CA4-CFA4-B79D-0711A3FFC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464" y="3269224"/>
            <a:ext cx="1292386" cy="14284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AF6B3A-D2F5-05D6-16DA-E24A85B9E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5313" y="3269224"/>
            <a:ext cx="1574711" cy="1428427"/>
          </a:xfrm>
          <a:prstGeom prst="rect">
            <a:avLst/>
          </a:prstGeom>
        </p:spPr>
      </p:pic>
      <p:pic>
        <p:nvPicPr>
          <p:cNvPr id="15" name="Graphic 14" descr="Line arrow: Straight with solid fill">
            <a:extLst>
              <a:ext uri="{FF2B5EF4-FFF2-40B4-BE49-F238E27FC236}">
                <a16:creationId xmlns:a16="http://schemas.microsoft.com/office/drawing/2014/main" id="{F72C9252-569E-AA2F-DCF4-106BC2EF4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433139" y="1686560"/>
            <a:ext cx="914400" cy="914400"/>
          </a:xfrm>
          <a:prstGeom prst="rect">
            <a:avLst/>
          </a:prstGeom>
        </p:spPr>
      </p:pic>
      <p:pic>
        <p:nvPicPr>
          <p:cNvPr id="16" name="Graphic 15" descr="Line arrow: Straight with solid fill">
            <a:extLst>
              <a:ext uri="{FF2B5EF4-FFF2-40B4-BE49-F238E27FC236}">
                <a16:creationId xmlns:a16="http://schemas.microsoft.com/office/drawing/2014/main" id="{3E9923C7-E462-24C0-1645-BDEE1F364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716084" y="353983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12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B017480-D933-577A-A290-3DA17FAA8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9940CD13-3641-B037-9304-7036AA360E44}"/>
              </a:ext>
            </a:extLst>
          </p:cNvPr>
          <p:cNvSpPr txBox="1">
            <a:spLocks/>
          </p:cNvSpPr>
          <p:nvPr/>
        </p:nvSpPr>
        <p:spPr>
          <a:xfrm>
            <a:off x="1134531" y="268259"/>
            <a:ext cx="6620936" cy="13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 dirty="0" err="1"/>
              <a:t>Identifikasi</a:t>
            </a:r>
            <a:r>
              <a:rPr lang="en-US" sz="2400" dirty="0"/>
              <a:t> Nilai Null &amp; Duplicates</a:t>
            </a:r>
            <a:endParaRPr lang="en-ID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BD5EC-C4E4-E398-1A04-261F4BBE107C}"/>
              </a:ext>
            </a:extLst>
          </p:cNvPr>
          <p:cNvSpPr txBox="1"/>
          <p:nvPr/>
        </p:nvSpPr>
        <p:spPr>
          <a:xfrm>
            <a:off x="973666" y="1379518"/>
            <a:ext cx="7196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anose="00000500000000000000" pitchFamily="2" charset="0"/>
              </a:rPr>
              <a:t>Melakukan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pemeriksaan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serta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penanganan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kepada</a:t>
            </a:r>
            <a:r>
              <a:rPr lang="en-US" dirty="0">
                <a:latin typeface="Montserrat" panose="00000500000000000000" pitchFamily="2" charset="0"/>
              </a:rPr>
              <a:t> data </a:t>
            </a:r>
            <a:r>
              <a:rPr lang="en-US" dirty="0" err="1">
                <a:latin typeface="Montserrat" panose="00000500000000000000" pitchFamily="2" charset="0"/>
              </a:rPr>
              <a:t>bernilai</a:t>
            </a:r>
            <a:r>
              <a:rPr lang="en-US" dirty="0">
                <a:latin typeface="Montserrat" panose="00000500000000000000" pitchFamily="2" charset="0"/>
              </a:rPr>
              <a:t> null dan duplicated.</a:t>
            </a:r>
            <a:endParaRPr lang="en-ID" dirty="0">
              <a:latin typeface="Montserrat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8B837-446A-74EA-317C-BA56AC68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531" y="2021626"/>
            <a:ext cx="2637102" cy="19695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2ED20C-18B1-5FFE-8117-58C20A327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070" y="2840540"/>
            <a:ext cx="2513133" cy="8681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49CE8A-8021-78A1-B824-18CB99BDF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5650" y="2091376"/>
            <a:ext cx="2193437" cy="638810"/>
          </a:xfrm>
          <a:prstGeom prst="rect">
            <a:avLst/>
          </a:prstGeom>
        </p:spPr>
      </p:pic>
      <p:pic>
        <p:nvPicPr>
          <p:cNvPr id="16" name="Graphic 15" descr="Arrow: Rotate right with solid fill">
            <a:extLst>
              <a:ext uri="{FF2B5EF4-FFF2-40B4-BE49-F238E27FC236}">
                <a16:creationId xmlns:a16="http://schemas.microsoft.com/office/drawing/2014/main" id="{7BFA047B-B95E-F50C-82B4-98B3FBF7D6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9087" y="1824977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785A020-E2A0-DED4-EE78-F6B7B7D392DA}"/>
              </a:ext>
            </a:extLst>
          </p:cNvPr>
          <p:cNvSpPr txBox="1"/>
          <p:nvPr/>
        </p:nvSpPr>
        <p:spPr>
          <a:xfrm>
            <a:off x="1134531" y="4196445"/>
            <a:ext cx="26371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Montserrat" panose="00000500000000000000" pitchFamily="2" charset="0"/>
              </a:rPr>
              <a:t>Dataset </a:t>
            </a:r>
            <a:r>
              <a:rPr lang="en-US" sz="1100" dirty="0" err="1">
                <a:latin typeface="Montserrat" panose="00000500000000000000" pitchFamily="2" charset="0"/>
              </a:rPr>
              <a:t>tidak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memiliki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nilai</a:t>
            </a:r>
            <a:r>
              <a:rPr lang="en-US" sz="1100" dirty="0">
                <a:latin typeface="Montserrat" panose="00000500000000000000" pitchFamily="2" charset="0"/>
              </a:rPr>
              <a:t> Null</a:t>
            </a:r>
            <a:endParaRPr lang="en-ID" sz="1100" dirty="0">
              <a:latin typeface="Montserrat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438F72-4B4D-F831-2B41-454D900702CA}"/>
              </a:ext>
            </a:extLst>
          </p:cNvPr>
          <p:cNvSpPr txBox="1"/>
          <p:nvPr/>
        </p:nvSpPr>
        <p:spPr>
          <a:xfrm>
            <a:off x="4184543" y="3991191"/>
            <a:ext cx="47579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00" dirty="0" err="1">
                <a:latin typeface="Montserrat" panose="00000500000000000000" pitchFamily="2" charset="0"/>
              </a:rPr>
              <a:t>Menghapus</a:t>
            </a:r>
            <a:r>
              <a:rPr lang="en-ID" sz="1100" dirty="0">
                <a:latin typeface="Montserrat" panose="00000500000000000000" pitchFamily="2" charset="0"/>
              </a:rPr>
              <a:t> data </a:t>
            </a:r>
            <a:r>
              <a:rPr lang="en-ID" sz="1100" dirty="0" err="1">
                <a:latin typeface="Montserrat" panose="00000500000000000000" pitchFamily="2" charset="0"/>
              </a:rPr>
              <a:t>duplikat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dengan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tetap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mempertahankan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satu</a:t>
            </a:r>
            <a:r>
              <a:rPr lang="en-ID" sz="1100" dirty="0">
                <a:latin typeface="Montserrat" panose="00000500000000000000" pitchFamily="2" charset="0"/>
              </a:rPr>
              <a:t> data </a:t>
            </a:r>
            <a:r>
              <a:rPr lang="en-ID" sz="1100" dirty="0" err="1">
                <a:latin typeface="Montserrat" panose="00000500000000000000" pitchFamily="2" charset="0"/>
              </a:rPr>
              <a:t>asli</a:t>
            </a:r>
            <a:r>
              <a:rPr lang="en-ID" sz="1100" dirty="0">
                <a:latin typeface="Montserrat" panose="00000500000000000000" pitchFamily="2" charset="0"/>
              </a:rPr>
              <a:t> (</a:t>
            </a:r>
            <a:r>
              <a:rPr lang="en-ID" sz="1100" i="1" dirty="0">
                <a:latin typeface="Montserrat" panose="00000500000000000000" pitchFamily="2" charset="0"/>
              </a:rPr>
              <a:t>keep first</a:t>
            </a:r>
            <a:r>
              <a:rPr lang="en-ID" sz="1100" dirty="0">
                <a:latin typeface="Montserrat" panose="00000500000000000000" pitchFamily="2" charset="0"/>
              </a:rPr>
              <a:t>) </a:t>
            </a:r>
            <a:r>
              <a:rPr lang="en-ID" sz="1100" dirty="0" err="1">
                <a:latin typeface="Montserrat" panose="00000500000000000000" pitchFamily="2" charset="0"/>
              </a:rPr>
              <a:t>untuk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memastikan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setiap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sampel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pasien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bersifat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unik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tanpa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kehilangan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informasi</a:t>
            </a:r>
            <a:r>
              <a:rPr lang="en-ID" sz="1100" dirty="0">
                <a:latin typeface="Montserrat" panose="00000500000000000000" pitchFamily="2" charset="0"/>
              </a:rPr>
              <a:t> yang valid.</a:t>
            </a:r>
          </a:p>
        </p:txBody>
      </p:sp>
    </p:spTree>
    <p:extLst>
      <p:ext uri="{BB962C8B-B14F-4D97-AF65-F5344CB8AC3E}">
        <p14:creationId xmlns:p14="http://schemas.microsoft.com/office/powerpoint/2010/main" val="418426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792E1CC-A5A6-ABA9-5A12-AB2C643F7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F7353B8E-41EE-9485-3AD6-2BDC2F6CE1C4}"/>
              </a:ext>
            </a:extLst>
          </p:cNvPr>
          <p:cNvSpPr txBox="1">
            <a:spLocks/>
          </p:cNvSpPr>
          <p:nvPr/>
        </p:nvSpPr>
        <p:spPr>
          <a:xfrm>
            <a:off x="1134531" y="268259"/>
            <a:ext cx="6620936" cy="13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 dirty="0" err="1"/>
              <a:t>Identifikasi</a:t>
            </a:r>
            <a:r>
              <a:rPr lang="en-US" sz="2400" dirty="0"/>
              <a:t> dan </a:t>
            </a:r>
            <a:r>
              <a:rPr lang="en-US" sz="2400" dirty="0" err="1"/>
              <a:t>Penangan</a:t>
            </a:r>
            <a:r>
              <a:rPr lang="en-US" sz="2400" dirty="0"/>
              <a:t> Nilai </a:t>
            </a:r>
            <a:r>
              <a:rPr lang="en-US" sz="2400" dirty="0" err="1"/>
              <a:t>Oulier</a:t>
            </a:r>
            <a:endParaRPr lang="en-ID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BF0DF1-92C0-A096-7079-09A50AB56CA0}"/>
              </a:ext>
            </a:extLst>
          </p:cNvPr>
          <p:cNvSpPr txBox="1"/>
          <p:nvPr/>
        </p:nvSpPr>
        <p:spPr>
          <a:xfrm>
            <a:off x="597544" y="1178646"/>
            <a:ext cx="7694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 err="1">
                <a:latin typeface="Montserrat" panose="00000500000000000000" pitchFamily="2" charset="0"/>
              </a:rPr>
              <a:t>Mengidentifikasi</a:t>
            </a:r>
            <a:r>
              <a:rPr lang="en-ID" sz="1200" dirty="0">
                <a:latin typeface="Montserrat" panose="00000500000000000000" pitchFamily="2" charset="0"/>
              </a:rPr>
              <a:t> dan </a:t>
            </a:r>
            <a:r>
              <a:rPr lang="en-ID" sz="1200" dirty="0" err="1">
                <a:latin typeface="Montserrat" panose="00000500000000000000" pitchFamily="2" charset="0"/>
              </a:rPr>
              <a:t>menangani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pencilan</a:t>
            </a:r>
            <a:r>
              <a:rPr lang="en-ID" sz="1200" dirty="0">
                <a:latin typeface="Montserrat" panose="00000500000000000000" pitchFamily="2" charset="0"/>
              </a:rPr>
              <a:t> (</a:t>
            </a:r>
            <a:r>
              <a:rPr lang="en-ID" sz="1200" i="1" dirty="0">
                <a:latin typeface="Montserrat" panose="00000500000000000000" pitchFamily="2" charset="0"/>
              </a:rPr>
              <a:t>outliers</a:t>
            </a:r>
            <a:r>
              <a:rPr lang="en-ID" sz="1200" dirty="0">
                <a:latin typeface="Montserrat" panose="00000500000000000000" pitchFamily="2" charset="0"/>
              </a:rPr>
              <a:t>) pada </a:t>
            </a:r>
            <a:r>
              <a:rPr lang="en-ID" sz="1200" dirty="0" err="1">
                <a:latin typeface="Montserrat" panose="00000500000000000000" pitchFamily="2" charset="0"/>
              </a:rPr>
              <a:t>fitur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klinis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seperti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trestbps</a:t>
            </a:r>
            <a:r>
              <a:rPr lang="en-ID" sz="1200" dirty="0">
                <a:latin typeface="Montserrat" panose="00000500000000000000" pitchFamily="2" charset="0"/>
              </a:rPr>
              <a:t>, </a:t>
            </a:r>
            <a:r>
              <a:rPr lang="en-ID" sz="1200" dirty="0" err="1">
                <a:latin typeface="Montserrat" panose="00000500000000000000" pitchFamily="2" charset="0"/>
              </a:rPr>
              <a:t>chol</a:t>
            </a:r>
            <a:r>
              <a:rPr lang="en-ID" sz="1200" dirty="0">
                <a:latin typeface="Montserrat" panose="00000500000000000000" pitchFamily="2" charset="0"/>
              </a:rPr>
              <a:t>, dan </a:t>
            </a:r>
            <a:r>
              <a:rPr lang="en-ID" sz="1200" dirty="0" err="1">
                <a:latin typeface="Montserrat" panose="00000500000000000000" pitchFamily="2" charset="0"/>
              </a:rPr>
              <a:t>oldpeak</a:t>
            </a:r>
            <a:r>
              <a:rPr lang="en-ID" sz="1200" dirty="0">
                <a:latin typeface="Montserrat" panose="00000500000000000000" pitchFamily="2" charset="0"/>
              </a:rPr>
              <a:t>. Juga </a:t>
            </a:r>
            <a:r>
              <a:rPr lang="en-ID" sz="1200" dirty="0" err="1">
                <a:latin typeface="Montserrat" panose="00000500000000000000" pitchFamily="2" charset="0"/>
              </a:rPr>
              <a:t>menggunakan</a:t>
            </a:r>
            <a:r>
              <a:rPr lang="en-ID" sz="1200" dirty="0">
                <a:latin typeface="Montserrat" panose="00000500000000000000" pitchFamily="2" charset="0"/>
              </a:rPr>
              <a:t> Boxplot </a:t>
            </a:r>
            <a:r>
              <a:rPr lang="en-ID" sz="1200" dirty="0" err="1">
                <a:latin typeface="Montserrat" panose="00000500000000000000" pitchFamily="2" charset="0"/>
              </a:rPr>
              <a:t>untuk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memahami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variasi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kondisi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kesehatan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pasien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dalam</a:t>
            </a:r>
            <a:r>
              <a:rPr lang="en-ID" sz="1200" dirty="0">
                <a:latin typeface="Montserrat" panose="00000500000000000000" pitchFamily="2" charset="0"/>
              </a:rPr>
              <a:t> dataset.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1AA94-5B88-826D-C7E9-AE310DCE0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44" y="1945869"/>
            <a:ext cx="3670085" cy="12517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104832-3A76-56C6-61A3-1D0EBB7B4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331" y="3540937"/>
            <a:ext cx="3242014" cy="8478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D166BB-E7E4-A71F-C1D8-EF0D229AD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263" y="3426883"/>
            <a:ext cx="3230745" cy="12029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0200C9-4822-C9BC-6328-8CD5D7CF9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2767" y="1945869"/>
            <a:ext cx="3670085" cy="1239894"/>
          </a:xfrm>
          <a:prstGeom prst="rect">
            <a:avLst/>
          </a:prstGeom>
        </p:spPr>
      </p:pic>
      <p:pic>
        <p:nvPicPr>
          <p:cNvPr id="15" name="Graphic 14" descr="Chevron arrows with solid fill">
            <a:extLst>
              <a:ext uri="{FF2B5EF4-FFF2-40B4-BE49-F238E27FC236}">
                <a16:creationId xmlns:a16="http://schemas.microsoft.com/office/drawing/2014/main" id="{02954B51-D17A-DC08-1AF8-1D0391661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638" y="2242650"/>
            <a:ext cx="646332" cy="646332"/>
          </a:xfrm>
          <a:prstGeom prst="rect">
            <a:avLst/>
          </a:prstGeom>
        </p:spPr>
      </p:pic>
      <p:pic>
        <p:nvPicPr>
          <p:cNvPr id="19" name="Graphic 18" descr="Chevron arrows with solid fill">
            <a:extLst>
              <a:ext uri="{FF2B5EF4-FFF2-40B4-BE49-F238E27FC236}">
                <a16:creationId xmlns:a16="http://schemas.microsoft.com/office/drawing/2014/main" id="{E6512B82-307A-4943-385D-F288B39015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638" y="3641685"/>
            <a:ext cx="646332" cy="6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3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B64ACEF-939D-7291-C05D-ED6E03BD9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42B3A281-4684-0B4D-061B-0EC673570DF4}"/>
              </a:ext>
            </a:extLst>
          </p:cNvPr>
          <p:cNvSpPr txBox="1">
            <a:spLocks/>
          </p:cNvSpPr>
          <p:nvPr/>
        </p:nvSpPr>
        <p:spPr>
          <a:xfrm>
            <a:off x="787400" y="1551600"/>
            <a:ext cx="5511500" cy="20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US" sz="4800" dirty="0">
                <a:solidFill>
                  <a:schemeClr val="lt1"/>
                </a:solidFill>
              </a:rPr>
              <a:t>Exploratory Data Analyst</a:t>
            </a:r>
          </a:p>
        </p:txBody>
      </p:sp>
    </p:spTree>
    <p:extLst>
      <p:ext uri="{BB962C8B-B14F-4D97-AF65-F5344CB8AC3E}">
        <p14:creationId xmlns:p14="http://schemas.microsoft.com/office/powerpoint/2010/main" val="1971145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FF7CAE9-D35A-C9D4-598A-B8E671299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DF306686-E287-8967-95F4-8457EE0C64B6}"/>
              </a:ext>
            </a:extLst>
          </p:cNvPr>
          <p:cNvSpPr txBox="1">
            <a:spLocks/>
          </p:cNvSpPr>
          <p:nvPr/>
        </p:nvSpPr>
        <p:spPr>
          <a:xfrm>
            <a:off x="1134531" y="177363"/>
            <a:ext cx="6620936" cy="13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 dirty="0" err="1"/>
              <a:t>Identifikasi</a:t>
            </a:r>
            <a:r>
              <a:rPr lang="en-US" sz="2400" dirty="0"/>
              <a:t> </a:t>
            </a:r>
            <a:r>
              <a:rPr lang="en-US" sz="2400" dirty="0" err="1"/>
              <a:t>Keseimbangan</a:t>
            </a:r>
            <a:r>
              <a:rPr lang="en-US" sz="2400" dirty="0"/>
              <a:t> Data</a:t>
            </a:r>
            <a:endParaRPr lang="en-ID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8B746-1482-A7CF-CA7A-15ED921D4173}"/>
              </a:ext>
            </a:extLst>
          </p:cNvPr>
          <p:cNvSpPr txBox="1"/>
          <p:nvPr/>
        </p:nvSpPr>
        <p:spPr>
          <a:xfrm>
            <a:off x="973666" y="1169867"/>
            <a:ext cx="7196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anose="00000500000000000000" pitchFamily="2" charset="0"/>
              </a:rPr>
              <a:t>Melakukan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pemeriksaan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keseimbangan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distribusi</a:t>
            </a:r>
            <a:r>
              <a:rPr lang="en-US" dirty="0">
                <a:latin typeface="Montserrat" panose="00000500000000000000" pitchFamily="2" charset="0"/>
              </a:rPr>
              <a:t> pada </a:t>
            </a:r>
            <a:r>
              <a:rPr lang="en-US" dirty="0" err="1">
                <a:latin typeface="Montserrat" panose="00000500000000000000" pitchFamily="2" charset="0"/>
              </a:rPr>
              <a:t>kelas</a:t>
            </a:r>
            <a:r>
              <a:rPr lang="en-US" dirty="0">
                <a:latin typeface="Montserrat" panose="00000500000000000000" pitchFamily="2" charset="0"/>
              </a:rPr>
              <a:t> data target dan </a:t>
            </a:r>
            <a:r>
              <a:rPr lang="en-US" dirty="0" err="1">
                <a:latin typeface="Montserrat" panose="00000500000000000000" pitchFamily="2" charset="0"/>
              </a:rPr>
              <a:t>melakukan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penanganan</a:t>
            </a:r>
            <a:r>
              <a:rPr lang="en-US" dirty="0">
                <a:latin typeface="Montserrat" panose="00000500000000000000" pitchFamily="2" charset="0"/>
              </a:rPr>
              <a:t>.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C9DC6C-A2A5-D68B-5039-3052B96DE08C}"/>
              </a:ext>
            </a:extLst>
          </p:cNvPr>
          <p:cNvSpPr txBox="1"/>
          <p:nvPr/>
        </p:nvSpPr>
        <p:spPr>
          <a:xfrm>
            <a:off x="4715963" y="3450413"/>
            <a:ext cx="4121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Montserrat" panose="00000500000000000000" pitchFamily="2" charset="0"/>
              </a:rPr>
              <a:t>Didapati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bahwa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distriusi</a:t>
            </a:r>
            <a:r>
              <a:rPr lang="en-US" sz="1100" dirty="0">
                <a:latin typeface="Montserrat" panose="00000500000000000000" pitchFamily="2" charset="0"/>
              </a:rPr>
              <a:t> pada data target </a:t>
            </a:r>
            <a:r>
              <a:rPr lang="en-US" sz="1100" dirty="0" err="1">
                <a:latin typeface="Montserrat" panose="00000500000000000000" pitchFamily="2" charset="0"/>
              </a:rPr>
              <a:t>cukup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seimbang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yakni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berkisar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b="1" dirty="0">
                <a:latin typeface="Montserrat" panose="00000500000000000000" pitchFamily="2" charset="0"/>
              </a:rPr>
              <a:t>54.3% </a:t>
            </a:r>
            <a:r>
              <a:rPr lang="en-US" sz="1100" dirty="0" err="1">
                <a:latin typeface="Montserrat" panose="00000500000000000000" pitchFamily="2" charset="0"/>
              </a:rPr>
              <a:t>untuk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kasus</a:t>
            </a:r>
            <a:r>
              <a:rPr lang="en-US" sz="1100" dirty="0">
                <a:latin typeface="Montserrat" panose="00000500000000000000" pitchFamily="2" charset="0"/>
              </a:rPr>
              <a:t> yang </a:t>
            </a:r>
            <a:r>
              <a:rPr lang="en-US" sz="1100" dirty="0" err="1">
                <a:latin typeface="Montserrat" panose="00000500000000000000" pitchFamily="2" charset="0"/>
              </a:rPr>
              <a:t>terdeteksi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penyakit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jantung</a:t>
            </a:r>
            <a:r>
              <a:rPr lang="en-US" sz="1100" dirty="0">
                <a:latin typeface="Montserrat" panose="00000500000000000000" pitchFamily="2" charset="0"/>
              </a:rPr>
              <a:t> dan </a:t>
            </a:r>
            <a:r>
              <a:rPr lang="en-US" sz="1100" b="1" dirty="0">
                <a:latin typeface="Montserrat" panose="00000500000000000000" pitchFamily="2" charset="0"/>
              </a:rPr>
              <a:t>45.69%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untuk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kasus</a:t>
            </a:r>
            <a:r>
              <a:rPr lang="en-US" sz="1100" dirty="0">
                <a:latin typeface="Montserrat" panose="00000500000000000000" pitchFamily="2" charset="0"/>
              </a:rPr>
              <a:t> yang </a:t>
            </a:r>
            <a:r>
              <a:rPr lang="en-US" sz="1100" dirty="0" err="1">
                <a:latin typeface="Montserrat" panose="00000500000000000000" pitchFamily="2" charset="0"/>
              </a:rPr>
              <a:t>tidak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terdeteksi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penyakit</a:t>
            </a:r>
            <a:r>
              <a:rPr lang="en-US" sz="1100" dirty="0">
                <a:latin typeface="Montserrat" panose="00000500000000000000" pitchFamily="2" charset="0"/>
              </a:rPr>
              <a:t> </a:t>
            </a:r>
            <a:r>
              <a:rPr lang="en-US" sz="1100" dirty="0" err="1">
                <a:latin typeface="Montserrat" panose="00000500000000000000" pitchFamily="2" charset="0"/>
              </a:rPr>
              <a:t>janung</a:t>
            </a:r>
            <a:endParaRPr lang="en-ID" sz="1100" dirty="0">
              <a:latin typeface="Montserrat" panose="000005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DCFF1E-29A5-973D-5E2B-B828376EE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42" y="1729700"/>
            <a:ext cx="2293166" cy="14809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E157F87-22AF-9B93-34AB-7C0A774FC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66" y="1873363"/>
            <a:ext cx="3326355" cy="251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50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A7F7545F-70B6-A812-BAF4-1C70C2EE1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0D6962C2-BB17-1836-6215-9CE4878A526B}"/>
              </a:ext>
            </a:extLst>
          </p:cNvPr>
          <p:cNvSpPr txBox="1">
            <a:spLocks/>
          </p:cNvSpPr>
          <p:nvPr/>
        </p:nvSpPr>
        <p:spPr>
          <a:xfrm>
            <a:off x="1134531" y="177363"/>
            <a:ext cx="6620936" cy="13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/>
              <a:t>Statistic Descriptive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19527-AD06-0832-A217-1272A41D2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83" y="1603813"/>
            <a:ext cx="3884015" cy="22033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D98A37-1841-32C1-3808-1462F5138B14}"/>
              </a:ext>
            </a:extLst>
          </p:cNvPr>
          <p:cNvSpPr txBox="1"/>
          <p:nvPr/>
        </p:nvSpPr>
        <p:spPr>
          <a:xfrm>
            <a:off x="4444999" y="1505174"/>
            <a:ext cx="457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Dari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kumpulan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data yang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diberikan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,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dapat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dilihat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bahwa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terdapat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283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entri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dan 5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kolom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.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Berikut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adalah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statistik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deskriptif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dari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setiap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variabel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2AB948-8172-EC73-BDBD-C73C5756C6D2}"/>
              </a:ext>
            </a:extLst>
          </p:cNvPr>
          <p:cNvSpPr txBox="1"/>
          <p:nvPr/>
        </p:nvSpPr>
        <p:spPr>
          <a:xfrm>
            <a:off x="4572000" y="21053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age: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umur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pasien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,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dengan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rata-rata (mean) 54.04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tahun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dan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rentang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antara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29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hingga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77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tahun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6A64A-838B-8244-6C77-E107D23BEB7B}"/>
              </a:ext>
            </a:extLst>
          </p:cNvPr>
          <p:cNvSpPr txBox="1"/>
          <p:nvPr/>
        </p:nvSpPr>
        <p:spPr>
          <a:xfrm>
            <a:off x="4572000" y="24709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trestbps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: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tekanan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darah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saat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istirahat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(resting blood pressure)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dalam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mmHg,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dengan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rata-rata 129.8 dan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rentang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antara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94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hingga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dirty="0">
                <a:solidFill>
                  <a:schemeClr val="accent2"/>
                </a:solidFill>
                <a:latin typeface="Montserrat" panose="00000500000000000000" pitchFamily="2" charset="0"/>
              </a:rPr>
              <a:t>17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0.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F2A1D5-6CBE-43EF-229C-0A1D29AA1551}"/>
              </a:ext>
            </a:extLst>
          </p:cNvPr>
          <p:cNvSpPr txBox="1"/>
          <p:nvPr/>
        </p:nvSpPr>
        <p:spPr>
          <a:xfrm>
            <a:off x="4572000" y="2705502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D" sz="900" b="0" i="0" dirty="0">
              <a:solidFill>
                <a:schemeClr val="accent2"/>
              </a:solidFill>
              <a:effectLst/>
              <a:latin typeface="Montserrat" panose="00000500000000000000" pitchFamily="2" charset="0"/>
            </a:endParaRPr>
          </a:p>
          <a:p>
            <a:pPr algn="l"/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chol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: serum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kolesterol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dalam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mg/dl,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dengan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rata-rata 242.3 dan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rentang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antara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126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hingga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dirty="0">
                <a:solidFill>
                  <a:schemeClr val="accent2"/>
                </a:solidFill>
                <a:latin typeface="Montserrat" panose="00000500000000000000" pitchFamily="2" charset="0"/>
              </a:rPr>
              <a:t>360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120D0C-8BD9-4B3A-8D18-87F49685474D}"/>
              </a:ext>
            </a:extLst>
          </p:cNvPr>
          <p:cNvSpPr txBox="1"/>
          <p:nvPr/>
        </p:nvSpPr>
        <p:spPr>
          <a:xfrm>
            <a:off x="4572000" y="319607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thalach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: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detak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jantung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maksimal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dicapai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selama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tes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olahraga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,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dengan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rata-rata 149.96 dan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rentang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antara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dirty="0">
                <a:solidFill>
                  <a:schemeClr val="accent2"/>
                </a:solidFill>
                <a:latin typeface="Montserrat" panose="00000500000000000000" pitchFamily="2" charset="0"/>
              </a:rPr>
              <a:t>88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hingga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202.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758C0B-769F-2F95-C61B-19AAE34E1BCF}"/>
              </a:ext>
            </a:extLst>
          </p:cNvPr>
          <p:cNvSpPr txBox="1"/>
          <p:nvPr/>
        </p:nvSpPr>
        <p:spPr>
          <a:xfrm>
            <a:off x="4572000" y="344416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endParaRPr lang="en-ID" sz="900" b="0" i="0" dirty="0">
              <a:solidFill>
                <a:schemeClr val="accent2"/>
              </a:solidFill>
              <a:effectLst/>
              <a:latin typeface="Montserrat" panose="00000500000000000000" pitchFamily="2" charset="0"/>
            </a:endParaRPr>
          </a:p>
          <a:p>
            <a:pPr algn="l"/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oldpeak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: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depresi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ST (ST depression)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relatif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terhadap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istirahat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diinduksi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oleh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olahraga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,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dengan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rata-rata 1.0</a:t>
            </a:r>
            <a:r>
              <a:rPr lang="en-ID" sz="900" dirty="0">
                <a:solidFill>
                  <a:schemeClr val="accent2"/>
                </a:solidFill>
                <a:latin typeface="Montserrat" panose="00000500000000000000" pitchFamily="2" charset="0"/>
              </a:rPr>
              <a:t>2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6 dan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rentang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antara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0 </a:t>
            </a:r>
            <a:r>
              <a:rPr lang="en-ID" sz="9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hingga</a:t>
            </a:r>
            <a:r>
              <a:rPr lang="en-ID" sz="9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900" dirty="0">
                <a:solidFill>
                  <a:schemeClr val="accent2"/>
                </a:solidFill>
                <a:latin typeface="Montserrat" panose="00000500000000000000" pitchFamily="2" charset="0"/>
              </a:rPr>
              <a:t>4</a:t>
            </a:r>
            <a:endParaRPr lang="en-ID" sz="900" b="0" i="0" dirty="0">
              <a:solidFill>
                <a:schemeClr val="accent2"/>
              </a:solidFill>
              <a:effectLst/>
              <a:latin typeface="Montserrat" panose="00000500000000000000" pitchFamily="2" charset="0"/>
            </a:endParaRPr>
          </a:p>
          <a:p>
            <a:pPr algn="l"/>
            <a:endParaRPr lang="en-ID" sz="900" b="0" i="0" dirty="0">
              <a:solidFill>
                <a:schemeClr val="accent2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74EEE1-93A4-D158-09D4-052DD8913975}"/>
              </a:ext>
            </a:extLst>
          </p:cNvPr>
          <p:cNvSpPr txBox="1"/>
          <p:nvPr/>
        </p:nvSpPr>
        <p:spPr>
          <a:xfrm>
            <a:off x="4431577" y="2099125"/>
            <a:ext cx="2503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  <a:latin typeface="Montserrat" panose="00000500000000000000" pitchFamily="2" charset="0"/>
              </a:rPr>
              <a:t>1.</a:t>
            </a:r>
            <a:endParaRPr lang="en-ID" sz="9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F6B507-A42F-F831-69C6-EB253925E4FC}"/>
              </a:ext>
            </a:extLst>
          </p:cNvPr>
          <p:cNvSpPr txBox="1"/>
          <p:nvPr/>
        </p:nvSpPr>
        <p:spPr>
          <a:xfrm>
            <a:off x="4431577" y="2480883"/>
            <a:ext cx="2744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  <a:latin typeface="Montserrat" panose="00000500000000000000" pitchFamily="2" charset="0"/>
              </a:rPr>
              <a:t>2.</a:t>
            </a:r>
            <a:endParaRPr lang="en-ID" sz="9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6CB233-FEB4-77F1-8980-F95CC28FC665}"/>
              </a:ext>
            </a:extLst>
          </p:cNvPr>
          <p:cNvSpPr txBox="1"/>
          <p:nvPr/>
        </p:nvSpPr>
        <p:spPr>
          <a:xfrm>
            <a:off x="4431577" y="2842927"/>
            <a:ext cx="2744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  <a:latin typeface="Montserrat" panose="00000500000000000000" pitchFamily="2" charset="0"/>
              </a:rPr>
              <a:t>3.</a:t>
            </a:r>
            <a:endParaRPr lang="en-ID" sz="9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5173F8-D3D2-C485-B76F-100278AE320F}"/>
              </a:ext>
            </a:extLst>
          </p:cNvPr>
          <p:cNvSpPr txBox="1"/>
          <p:nvPr/>
        </p:nvSpPr>
        <p:spPr>
          <a:xfrm>
            <a:off x="4431577" y="3191514"/>
            <a:ext cx="2856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  <a:latin typeface="Montserrat" panose="00000500000000000000" pitchFamily="2" charset="0"/>
              </a:rPr>
              <a:t>4.</a:t>
            </a:r>
            <a:endParaRPr lang="en-ID" sz="9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912338-4246-5E13-4EDA-5C9D90DD2E40}"/>
              </a:ext>
            </a:extLst>
          </p:cNvPr>
          <p:cNvSpPr txBox="1"/>
          <p:nvPr/>
        </p:nvSpPr>
        <p:spPr>
          <a:xfrm>
            <a:off x="4431577" y="3596544"/>
            <a:ext cx="2744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  <a:latin typeface="Montserrat" panose="00000500000000000000" pitchFamily="2" charset="0"/>
              </a:rPr>
              <a:t>5.</a:t>
            </a:r>
            <a:endParaRPr lang="en-ID" sz="9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070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E63F109-0F35-4EF7-C03D-50255EFF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ED677267-C9D9-F1BA-CF8D-779215BF0001}"/>
              </a:ext>
            </a:extLst>
          </p:cNvPr>
          <p:cNvSpPr txBox="1">
            <a:spLocks/>
          </p:cNvSpPr>
          <p:nvPr/>
        </p:nvSpPr>
        <p:spPr>
          <a:xfrm>
            <a:off x="1072538" y="302217"/>
            <a:ext cx="6620936" cy="552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 dirty="0"/>
              <a:t>Data Distribution</a:t>
            </a:r>
            <a:endParaRPr lang="en-ID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DF010-36F3-4E3F-5F53-FECF4B533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3" y="1314805"/>
            <a:ext cx="5436182" cy="26983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701420-021B-FAA1-CA11-B37A25057C80}"/>
              </a:ext>
            </a:extLst>
          </p:cNvPr>
          <p:cNvSpPr txBox="1"/>
          <p:nvPr/>
        </p:nvSpPr>
        <p:spPr>
          <a:xfrm>
            <a:off x="5854919" y="1314805"/>
            <a:ext cx="27683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 err="1">
                <a:latin typeface="Montserrat" panose="00000500000000000000" pitchFamily="2" charset="0"/>
              </a:rPr>
              <a:t>Menganalisis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distribusi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frekuensi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variabel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numerik</a:t>
            </a:r>
            <a:r>
              <a:rPr lang="en-ID" sz="1200" dirty="0">
                <a:latin typeface="Montserrat" panose="00000500000000000000" pitchFamily="2" charset="0"/>
              </a:rPr>
              <a:t>,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F2167A-079C-89F6-6F19-4C7919CA2218}"/>
              </a:ext>
            </a:extLst>
          </p:cNvPr>
          <p:cNvSpPr txBox="1"/>
          <p:nvPr/>
        </p:nvSpPr>
        <p:spPr>
          <a:xfrm>
            <a:off x="5854919" y="1798461"/>
            <a:ext cx="2169763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D" sz="1050" dirty="0" err="1">
                <a:latin typeface="Montserrat" panose="00000500000000000000" pitchFamily="2" charset="0"/>
              </a:rPr>
              <a:t>Grafik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menunjukkan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bahwa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fitur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usia</a:t>
            </a:r>
            <a:r>
              <a:rPr lang="en-ID" sz="1050" dirty="0">
                <a:latin typeface="Montserrat" panose="00000500000000000000" pitchFamily="2" charset="0"/>
              </a:rPr>
              <a:t> (age) dan </a:t>
            </a:r>
            <a:r>
              <a:rPr lang="en-ID" sz="1050" dirty="0" err="1">
                <a:latin typeface="Montserrat" panose="00000500000000000000" pitchFamily="2" charset="0"/>
              </a:rPr>
              <a:t>detak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jantung</a:t>
            </a:r>
            <a:r>
              <a:rPr lang="en-ID" sz="1050" dirty="0">
                <a:latin typeface="Montserrat" panose="00000500000000000000" pitchFamily="2" charset="0"/>
              </a:rPr>
              <a:t> (</a:t>
            </a:r>
            <a:r>
              <a:rPr lang="en-ID" sz="1050" dirty="0" err="1">
                <a:latin typeface="Montserrat" panose="00000500000000000000" pitchFamily="2" charset="0"/>
              </a:rPr>
              <a:t>thalach</a:t>
            </a:r>
            <a:r>
              <a:rPr lang="en-ID" sz="1050" dirty="0">
                <a:latin typeface="Montserrat" panose="00000500000000000000" pitchFamily="2" charset="0"/>
              </a:rPr>
              <a:t>) </a:t>
            </a:r>
            <a:r>
              <a:rPr lang="en-ID" sz="1050" dirty="0" err="1">
                <a:latin typeface="Montserrat" panose="00000500000000000000" pitchFamily="2" charset="0"/>
              </a:rPr>
              <a:t>mendekati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distribusi</a:t>
            </a:r>
            <a:r>
              <a:rPr lang="en-ID" sz="1050" dirty="0">
                <a:latin typeface="Montserrat" panose="00000500000000000000" pitchFamily="2" charset="0"/>
              </a:rPr>
              <a:t> normal.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050" dirty="0" err="1">
                <a:latin typeface="Montserrat" panose="00000500000000000000" pitchFamily="2" charset="0"/>
              </a:rPr>
              <a:t>Sementara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itu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oldpeak</a:t>
            </a:r>
            <a:r>
              <a:rPr lang="en-ID" sz="1050" dirty="0">
                <a:latin typeface="Montserrat" panose="00000500000000000000" pitchFamily="2" charset="0"/>
              </a:rPr>
              <a:t> dan </a:t>
            </a:r>
            <a:r>
              <a:rPr lang="en-ID" sz="1050" dirty="0" err="1">
                <a:latin typeface="Montserrat" panose="00000500000000000000" pitchFamily="2" charset="0"/>
              </a:rPr>
              <a:t>chol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menunjukkan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kemiringan</a:t>
            </a:r>
            <a:r>
              <a:rPr lang="en-ID" sz="1050" dirty="0">
                <a:latin typeface="Montserrat" panose="00000500000000000000" pitchFamily="2" charset="0"/>
              </a:rPr>
              <a:t> (</a:t>
            </a:r>
            <a:r>
              <a:rPr lang="en-ID" sz="1050" i="1" dirty="0">
                <a:latin typeface="Montserrat" panose="00000500000000000000" pitchFamily="2" charset="0"/>
              </a:rPr>
              <a:t>skewness</a:t>
            </a:r>
            <a:r>
              <a:rPr lang="en-ID" sz="1050" dirty="0">
                <a:latin typeface="Montserrat" panose="00000500000000000000" pitchFamily="2" charset="0"/>
              </a:rPr>
              <a:t>) </a:t>
            </a:r>
            <a:r>
              <a:rPr lang="en-ID" sz="1050" dirty="0" err="1">
                <a:latin typeface="Montserrat" panose="00000500000000000000" pitchFamily="2" charset="0"/>
              </a:rPr>
              <a:t>positif</a:t>
            </a:r>
            <a:r>
              <a:rPr lang="en-ID" sz="1050" dirty="0">
                <a:latin typeface="Montserrat" panose="00000500000000000000" pitchFamily="2" charset="0"/>
              </a:rPr>
              <a:t> yang </a:t>
            </a:r>
            <a:r>
              <a:rPr lang="en-ID" sz="1050" dirty="0" err="1">
                <a:latin typeface="Montserrat" panose="00000500000000000000" pitchFamily="2" charset="0"/>
              </a:rPr>
              <a:t>signifikan</a:t>
            </a:r>
            <a:r>
              <a:rPr lang="en-ID" sz="105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3260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7E9339B-DED1-23B2-540D-62BF340D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07EFFE06-4ABD-B6DF-93EF-57C9165349A3}"/>
              </a:ext>
            </a:extLst>
          </p:cNvPr>
          <p:cNvSpPr txBox="1">
            <a:spLocks/>
          </p:cNvSpPr>
          <p:nvPr/>
        </p:nvSpPr>
        <p:spPr>
          <a:xfrm>
            <a:off x="1072538" y="302217"/>
            <a:ext cx="6620936" cy="552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 dirty="0" err="1"/>
              <a:t>Korelasi</a:t>
            </a:r>
            <a:r>
              <a:rPr lang="en-US" sz="2400" dirty="0"/>
              <a:t> Antar </a:t>
            </a:r>
            <a:r>
              <a:rPr lang="en-US" sz="2400" dirty="0" err="1"/>
              <a:t>Variabel</a:t>
            </a:r>
            <a:endParaRPr lang="en-ID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CB32BE-C069-4FE0-8A2B-06B0C5166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613" y="854650"/>
            <a:ext cx="5090169" cy="368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32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BA36862-ABDB-1DE8-7ADA-7E07C508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C6E0DF27-7086-BF6C-E672-C957AFB20575}"/>
              </a:ext>
            </a:extLst>
          </p:cNvPr>
          <p:cNvSpPr txBox="1">
            <a:spLocks/>
          </p:cNvSpPr>
          <p:nvPr/>
        </p:nvSpPr>
        <p:spPr>
          <a:xfrm>
            <a:off x="1072538" y="302217"/>
            <a:ext cx="6620936" cy="552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 dirty="0" err="1"/>
              <a:t>Korelasi</a:t>
            </a:r>
            <a:r>
              <a:rPr lang="en-US" sz="2400" dirty="0"/>
              <a:t> Antar </a:t>
            </a:r>
            <a:r>
              <a:rPr lang="en-US" sz="2400" dirty="0" err="1"/>
              <a:t>Variabel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684F9-4705-ACC6-0B84-ECE235CF1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38" y="908049"/>
            <a:ext cx="1023815" cy="3327401"/>
          </a:xfrm>
          <a:prstGeom prst="rect">
            <a:avLst/>
          </a:prstGeom>
        </p:spPr>
      </p:pic>
      <p:pic>
        <p:nvPicPr>
          <p:cNvPr id="6" name="Graphic 5" descr="Chevron arrows with solid fill">
            <a:extLst>
              <a:ext uri="{FF2B5EF4-FFF2-40B4-BE49-F238E27FC236}">
                <a16:creationId xmlns:a16="http://schemas.microsoft.com/office/drawing/2014/main" id="{350A29EF-F6FC-652C-F2F3-823E1BA836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7431" y="1844801"/>
            <a:ext cx="1118238" cy="1118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570232-F7A3-4755-E08C-67DEE7A88A5E}"/>
              </a:ext>
            </a:extLst>
          </p:cNvPr>
          <p:cNvSpPr txBox="1"/>
          <p:nvPr/>
        </p:nvSpPr>
        <p:spPr>
          <a:xfrm>
            <a:off x="2279112" y="1719057"/>
            <a:ext cx="124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</a:rPr>
              <a:t>Analyst Insight</a:t>
            </a:r>
            <a:endParaRPr lang="en-ID" sz="1000" dirty="0"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7B952-AA2B-F539-C42C-785B77DC2A2A}"/>
              </a:ext>
            </a:extLst>
          </p:cNvPr>
          <p:cNvSpPr txBox="1"/>
          <p:nvPr/>
        </p:nvSpPr>
        <p:spPr>
          <a:xfrm>
            <a:off x="3498850" y="1048510"/>
            <a:ext cx="320103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Font typeface="+mj-lt"/>
              <a:buAutoNum type="arabicPeriod"/>
            </a:pP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ca -0.456989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Negatif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Kuat)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oldpeak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-0.434108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Negatif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Kuat)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exang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-0.431599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Negatif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Kuat)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thal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-0.370759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Negatif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Kuat)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sex -0.318896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Negatif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Kuat)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age -0.222416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Negatif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trestbps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-0.115614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Negatif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Lemah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chol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-0.0105627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Negatif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Lemah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fbs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0.027210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Positif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Lemah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restecg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0.171453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Positif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Lemah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slope 0.326473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Positif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Kuat)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cp 0.416319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Positif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Kuat)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thalach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0.422559 (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Positif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Kuat)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EF0E33-BDF4-34F2-0981-FC1B127B3BB9}"/>
              </a:ext>
            </a:extLst>
          </p:cNvPr>
          <p:cNvSpPr txBox="1"/>
          <p:nvPr/>
        </p:nvSpPr>
        <p:spPr>
          <a:xfrm>
            <a:off x="3498850" y="3144024"/>
            <a:ext cx="55308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Kesimpulan: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'cp', '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thalach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dan 'slope'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berkorelasi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positif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cukup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kuat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dengan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'target’.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oldpeak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'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exang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'ca', '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thal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'sex', dan 'age'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berkorelasi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negative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cukup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kuat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dengan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'target’.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fbs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'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chol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'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trestbps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dan '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restecg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memiliki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lemah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0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dengan</a:t>
            </a:r>
            <a:r>
              <a:rPr lang="en-ID" sz="10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'target'.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2065D9-7C9E-D10B-62A9-218E89E8EB88}"/>
              </a:ext>
            </a:extLst>
          </p:cNvPr>
          <p:cNvSpPr txBox="1"/>
          <p:nvPr/>
        </p:nvSpPr>
        <p:spPr>
          <a:xfrm>
            <a:off x="2317431" y="4005798"/>
            <a:ext cx="671226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Variabel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dengan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korelasi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kuat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terpilih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sebagai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fitur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akan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digunakan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pada model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nanti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. Feature yang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dipilih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ID" sz="1100" b="0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yaitu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: </a:t>
            </a:r>
            <a:r>
              <a:rPr lang="en-ID" sz="110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</a:t>
            </a:r>
            <a:r>
              <a:rPr lang="en-ID" sz="1100" b="1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cp</a:t>
            </a:r>
            <a:r>
              <a:rPr lang="en-ID" sz="110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'</a:t>
            </a:r>
            <a:r>
              <a:rPr lang="en-ID" sz="1100" b="1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thalach</a:t>
            </a:r>
            <a:r>
              <a:rPr lang="en-ID" sz="110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</a:t>
            </a:r>
            <a:r>
              <a:rPr lang="en-ID" sz="1100" b="1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'slope</a:t>
            </a:r>
            <a:r>
              <a:rPr lang="en-ID" sz="110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</a:t>
            </a:r>
            <a:r>
              <a:rPr lang="en-ID" sz="1100" b="1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</a:t>
            </a:r>
            <a:r>
              <a:rPr lang="en-ID" sz="1100" b="1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oldpeak</a:t>
            </a:r>
            <a:r>
              <a:rPr lang="en-ID" sz="110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</a:t>
            </a:r>
            <a:r>
              <a:rPr lang="en-ID" sz="1100" b="1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</a:t>
            </a:r>
            <a:r>
              <a:rPr lang="en-ID" sz="1100" b="1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exang</a:t>
            </a:r>
            <a:r>
              <a:rPr lang="en-ID" sz="110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</a:t>
            </a:r>
            <a:r>
              <a:rPr lang="en-ID" sz="1100" b="1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'ca</a:t>
            </a:r>
            <a:r>
              <a:rPr lang="en-ID" sz="110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</a:t>
            </a:r>
            <a:r>
              <a:rPr lang="en-ID" sz="1100" b="1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</a:t>
            </a:r>
            <a:r>
              <a:rPr lang="en-ID" sz="1100" b="1" i="0" dirty="0" err="1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thal</a:t>
            </a:r>
            <a:r>
              <a:rPr lang="en-ID" sz="110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</a:t>
            </a:r>
            <a:r>
              <a:rPr lang="en-ID" sz="1100" b="1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'sex</a:t>
            </a:r>
            <a:r>
              <a:rPr lang="en-ID" sz="110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', dan </a:t>
            </a:r>
            <a:r>
              <a:rPr lang="en-ID" sz="1100" b="1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'age</a:t>
            </a:r>
            <a:r>
              <a:rPr lang="en-ID" sz="1100" b="0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'.</a:t>
            </a:r>
          </a:p>
        </p:txBody>
      </p:sp>
    </p:spTree>
    <p:extLst>
      <p:ext uri="{BB962C8B-B14F-4D97-AF65-F5344CB8AC3E}">
        <p14:creationId xmlns:p14="http://schemas.microsoft.com/office/powerpoint/2010/main" val="3715107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6B550CC-21CA-D287-87A9-7ABBF445D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78FCF04F-9414-FACA-6E0D-75F78188DD32}"/>
              </a:ext>
            </a:extLst>
          </p:cNvPr>
          <p:cNvSpPr txBox="1">
            <a:spLocks/>
          </p:cNvSpPr>
          <p:nvPr/>
        </p:nvSpPr>
        <p:spPr>
          <a:xfrm>
            <a:off x="787400" y="1551600"/>
            <a:ext cx="5511500" cy="20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US" sz="4800" dirty="0">
                <a:solidFill>
                  <a:schemeClr val="lt1"/>
                </a:solidFill>
              </a:rPr>
              <a:t>Modeling</a:t>
            </a:r>
          </a:p>
        </p:txBody>
      </p:sp>
    </p:spTree>
    <p:extLst>
      <p:ext uri="{BB962C8B-B14F-4D97-AF65-F5344CB8AC3E}">
        <p14:creationId xmlns:p14="http://schemas.microsoft.com/office/powerpoint/2010/main" val="2562309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2B9D47CE-ECF5-4438-9FD2-A4B4CC9D3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>
            <a:extLst>
              <a:ext uri="{FF2B5EF4-FFF2-40B4-BE49-F238E27FC236}">
                <a16:creationId xmlns:a16="http://schemas.microsoft.com/office/drawing/2014/main" id="{D3A7E2AF-5623-7A08-1668-F257C9BD3DF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5739" y="1686560"/>
            <a:ext cx="3030825" cy="1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700" dirty="0">
                <a:solidFill>
                  <a:schemeClr val="lt1"/>
                </a:solidFill>
              </a:rPr>
              <a:t>Split &amp; Scaling Data</a:t>
            </a:r>
            <a:endParaRPr sz="2700" dirty="0">
              <a:solidFill>
                <a:schemeClr val="l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8F271-5BF1-5BF2-3438-6AB13CB15F3F}"/>
              </a:ext>
            </a:extLst>
          </p:cNvPr>
          <p:cNvSpPr txBox="1"/>
          <p:nvPr/>
        </p:nvSpPr>
        <p:spPr>
          <a:xfrm>
            <a:off x="3749706" y="495412"/>
            <a:ext cx="5029200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50" dirty="0" err="1">
                <a:latin typeface="Montserrat" panose="00000500000000000000" pitchFamily="2" charset="0"/>
              </a:rPr>
              <a:t>Dilakukan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pemisahan</a:t>
            </a:r>
            <a:r>
              <a:rPr lang="en-ID" sz="1050" dirty="0">
                <a:latin typeface="Montserrat" panose="00000500000000000000" pitchFamily="2" charset="0"/>
              </a:rPr>
              <a:t> data (</a:t>
            </a:r>
            <a:r>
              <a:rPr lang="en-ID" sz="1050" i="1" dirty="0">
                <a:latin typeface="Montserrat" panose="00000500000000000000" pitchFamily="2" charset="0"/>
              </a:rPr>
              <a:t>Data Splitting</a:t>
            </a:r>
            <a:r>
              <a:rPr lang="en-ID" sz="1050" dirty="0">
                <a:latin typeface="Montserrat" panose="00000500000000000000" pitchFamily="2" charset="0"/>
              </a:rPr>
              <a:t>) </a:t>
            </a:r>
            <a:r>
              <a:rPr lang="en-ID" sz="1050" dirty="0" err="1">
                <a:latin typeface="Montserrat" panose="00000500000000000000" pitchFamily="2" charset="0"/>
              </a:rPr>
              <a:t>menjadi</a:t>
            </a:r>
            <a:r>
              <a:rPr lang="en-ID" sz="1050" dirty="0">
                <a:latin typeface="Montserrat" panose="00000500000000000000" pitchFamily="2" charset="0"/>
              </a:rPr>
              <a:t> variable target dan variable </a:t>
            </a:r>
            <a:r>
              <a:rPr lang="en-ID" sz="1050" dirty="0" err="1">
                <a:latin typeface="Montserrat" panose="00000500000000000000" pitchFamily="2" charset="0"/>
              </a:rPr>
              <a:t>independen</a:t>
            </a:r>
            <a:r>
              <a:rPr lang="en-ID" sz="1050" dirty="0">
                <a:latin typeface="Montserrat" panose="00000500000000000000" pitchFamily="2" charset="0"/>
              </a:rPr>
              <a:t>, </a:t>
            </a:r>
            <a:r>
              <a:rPr lang="en-ID" sz="1050" dirty="0" err="1">
                <a:latin typeface="Montserrat" panose="00000500000000000000" pitchFamily="2" charset="0"/>
              </a:rPr>
              <a:t>serta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menerapkan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i="1" dirty="0">
                <a:latin typeface="Montserrat" panose="00000500000000000000" pitchFamily="2" charset="0"/>
              </a:rPr>
              <a:t>Feature Scaling</a:t>
            </a:r>
            <a:r>
              <a:rPr lang="en-ID" sz="1050" dirty="0">
                <a:latin typeface="Montserrat" panose="00000500000000000000" pitchFamily="2" charset="0"/>
              </a:rPr>
              <a:t> pada variable independent agar </a:t>
            </a:r>
            <a:r>
              <a:rPr lang="en-ID" sz="1050" dirty="0" err="1">
                <a:latin typeface="Montserrat" panose="00000500000000000000" pitchFamily="2" charset="0"/>
              </a:rPr>
              <a:t>semua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fitur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memiliki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bobot</a:t>
            </a:r>
            <a:r>
              <a:rPr lang="en-ID" sz="1050" dirty="0">
                <a:latin typeface="Montserrat" panose="00000500000000000000" pitchFamily="2" charset="0"/>
              </a:rPr>
              <a:t> yang </a:t>
            </a:r>
            <a:r>
              <a:rPr lang="en-ID" sz="1050" dirty="0" err="1">
                <a:latin typeface="Montserrat" panose="00000500000000000000" pitchFamily="2" charset="0"/>
              </a:rPr>
              <a:t>setara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saat</a:t>
            </a:r>
            <a:r>
              <a:rPr lang="en-ID" sz="1050" dirty="0">
                <a:latin typeface="Montserrat" panose="00000500000000000000" pitchFamily="2" charset="0"/>
              </a:rPr>
              <a:t> proses </a:t>
            </a:r>
            <a:r>
              <a:rPr lang="en-ID" sz="1050" dirty="0" err="1">
                <a:latin typeface="Montserrat" panose="00000500000000000000" pitchFamily="2" charset="0"/>
              </a:rPr>
              <a:t>pembelajaran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mesin</a:t>
            </a:r>
            <a:endParaRPr lang="en-ID" sz="1050" dirty="0">
              <a:latin typeface="Montserrat" panose="00000500000000000000" pitchFamily="2" charset="0"/>
            </a:endParaRPr>
          </a:p>
          <a:p>
            <a:endParaRPr lang="en-ID" sz="1050" dirty="0">
              <a:latin typeface="Montserrat" panose="00000500000000000000" pitchFamily="2" charset="0"/>
            </a:endParaRPr>
          </a:p>
          <a:p>
            <a:r>
              <a:rPr lang="en-ID" sz="1050" dirty="0" err="1">
                <a:latin typeface="Montserrat" panose="00000500000000000000" pitchFamily="2" charset="0"/>
              </a:rPr>
              <a:t>Setelah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itu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dilakukan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pembagian</a:t>
            </a:r>
            <a:r>
              <a:rPr lang="en-ID" sz="1050" dirty="0">
                <a:latin typeface="Montserrat" panose="00000500000000000000" pitchFamily="2" charset="0"/>
              </a:rPr>
              <a:t> data </a:t>
            </a:r>
            <a:r>
              <a:rPr lang="en-ID" sz="1050" dirty="0" err="1">
                <a:latin typeface="Montserrat" panose="00000500000000000000" pitchFamily="2" charset="0"/>
              </a:rPr>
              <a:t>menjadi</a:t>
            </a:r>
            <a:r>
              <a:rPr lang="en-ID" sz="1050" dirty="0">
                <a:latin typeface="Montserrat" panose="00000500000000000000" pitchFamily="2" charset="0"/>
              </a:rPr>
              <a:t> </a:t>
            </a:r>
            <a:r>
              <a:rPr lang="en-ID" sz="1050" dirty="0" err="1">
                <a:latin typeface="Montserrat" panose="00000500000000000000" pitchFamily="2" charset="0"/>
              </a:rPr>
              <a:t>bagian</a:t>
            </a:r>
            <a:r>
              <a:rPr lang="en-ID" sz="1050" dirty="0">
                <a:latin typeface="Montserrat" panose="00000500000000000000" pitchFamily="2" charset="0"/>
              </a:rPr>
              <a:t> training dan testing.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2DE4A-8BE6-ED40-55DE-74D7A7CC1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650" y="3769412"/>
            <a:ext cx="4508500" cy="2906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68B8C2-596A-FCE3-69A9-AFFE32818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755" y="1731524"/>
            <a:ext cx="2676787" cy="5163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07045A-D458-D7F3-7111-CAE151F38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695" y="2770477"/>
            <a:ext cx="3115110" cy="476316"/>
          </a:xfrm>
          <a:prstGeom prst="rect">
            <a:avLst/>
          </a:prstGeom>
        </p:spPr>
      </p:pic>
      <p:pic>
        <p:nvPicPr>
          <p:cNvPr id="15" name="Graphic 14" descr="Line arrow: Straight with solid fill">
            <a:extLst>
              <a:ext uri="{FF2B5EF4-FFF2-40B4-BE49-F238E27FC236}">
                <a16:creationId xmlns:a16="http://schemas.microsoft.com/office/drawing/2014/main" id="{96E79D91-A9CB-93F6-69D2-73FFD3AB8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 flipH="1" flipV="1">
            <a:off x="5787990" y="2268761"/>
            <a:ext cx="476316" cy="476316"/>
          </a:xfrm>
          <a:prstGeom prst="rect">
            <a:avLst/>
          </a:prstGeom>
        </p:spPr>
      </p:pic>
      <p:pic>
        <p:nvPicPr>
          <p:cNvPr id="17" name="Graphic 16" descr="Line arrow: Straight with solid fill">
            <a:extLst>
              <a:ext uri="{FF2B5EF4-FFF2-40B4-BE49-F238E27FC236}">
                <a16:creationId xmlns:a16="http://schemas.microsoft.com/office/drawing/2014/main" id="{F7B41CCD-FBAB-5F8B-E409-E4AEE05D1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 flipH="1" flipV="1">
            <a:off x="5787990" y="3246793"/>
            <a:ext cx="476316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62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C76ED733-8CA8-79C3-D2B8-E2E8192A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3C4062FE-F78C-6B38-FF92-755831BDE4AF}"/>
              </a:ext>
            </a:extLst>
          </p:cNvPr>
          <p:cNvSpPr txBox="1">
            <a:spLocks/>
          </p:cNvSpPr>
          <p:nvPr/>
        </p:nvSpPr>
        <p:spPr>
          <a:xfrm>
            <a:off x="1134531" y="177363"/>
            <a:ext cx="6620936" cy="13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 dirty="0" err="1"/>
              <a:t>Algoritma</a:t>
            </a:r>
            <a:r>
              <a:rPr lang="en-US" sz="2400" dirty="0"/>
              <a:t> Model</a:t>
            </a:r>
            <a:endParaRPr lang="en-ID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87EDC8-7677-F219-EAA2-BA82ED3F15EF}"/>
              </a:ext>
            </a:extLst>
          </p:cNvPr>
          <p:cNvSpPr txBox="1"/>
          <p:nvPr/>
        </p:nvSpPr>
        <p:spPr>
          <a:xfrm>
            <a:off x="984250" y="1139210"/>
            <a:ext cx="72771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200" dirty="0" err="1">
                <a:latin typeface="Montserrat" panose="00000500000000000000" pitchFamily="2" charset="0"/>
              </a:rPr>
              <a:t>Empat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algoritma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dengan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karakteristik</a:t>
            </a:r>
            <a:r>
              <a:rPr lang="en-ID" sz="1200" dirty="0">
                <a:latin typeface="Montserrat" panose="00000500000000000000" pitchFamily="2" charset="0"/>
              </a:rPr>
              <a:t> yang </a:t>
            </a:r>
            <a:r>
              <a:rPr lang="en-ID" sz="1200" dirty="0" err="1">
                <a:latin typeface="Montserrat" panose="00000500000000000000" pitchFamily="2" charset="0"/>
              </a:rPr>
              <a:t>berbeda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dipilih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menjadi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kandidat</a:t>
            </a:r>
            <a:r>
              <a:rPr lang="en-ID" sz="1200" dirty="0">
                <a:latin typeface="Montserrat" panose="00000500000000000000" pitchFamily="2" charset="0"/>
              </a:rPr>
              <a:t> model </a:t>
            </a:r>
            <a:r>
              <a:rPr lang="en-ID" sz="1200" dirty="0" err="1">
                <a:latin typeface="Montserrat" panose="00000500000000000000" pitchFamily="2" charset="0"/>
              </a:rPr>
              <a:t>dengan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tujuan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untuk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membandingkan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performa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prediksi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dari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pendekatan</a:t>
            </a:r>
            <a:r>
              <a:rPr lang="en-ID" sz="1200" dirty="0">
                <a:latin typeface="Montserrat" panose="00000500000000000000" pitchFamily="2" charset="0"/>
              </a:rPr>
              <a:t> linear </a:t>
            </a:r>
            <a:r>
              <a:rPr lang="en-ID" sz="1200" dirty="0" err="1">
                <a:latin typeface="Montserrat" panose="00000500000000000000" pitchFamily="2" charset="0"/>
              </a:rPr>
              <a:t>sederhana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hingga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arsitektur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jaringan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saraf</a:t>
            </a:r>
            <a:r>
              <a:rPr lang="en-ID" sz="1200" dirty="0">
                <a:latin typeface="Montserrat" panose="00000500000000000000" pitchFamily="2" charset="0"/>
              </a:rPr>
              <a:t> yang </a:t>
            </a:r>
            <a:r>
              <a:rPr lang="en-ID" sz="1200" dirty="0" err="1">
                <a:latin typeface="Montserrat" panose="00000500000000000000" pitchFamily="2" charset="0"/>
              </a:rPr>
              <a:t>kompleks</a:t>
            </a:r>
            <a:r>
              <a:rPr lang="en-ID" sz="1200" dirty="0">
                <a:latin typeface="Montserrat" panose="00000500000000000000" pitchFamily="2" charset="0"/>
              </a:rPr>
              <a:t> guna </a:t>
            </a:r>
            <a:r>
              <a:rPr lang="en-ID" sz="1200" dirty="0" err="1">
                <a:latin typeface="Montserrat" panose="00000500000000000000" pitchFamily="2" charset="0"/>
              </a:rPr>
              <a:t>mendapatkan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hasil</a:t>
            </a:r>
            <a:r>
              <a:rPr lang="en-ID" sz="1200" dirty="0">
                <a:latin typeface="Montserrat" panose="00000500000000000000" pitchFamily="2" charset="0"/>
              </a:rPr>
              <a:t> yang paling optimal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32925-9EAF-115E-F900-0B07310C994B}"/>
              </a:ext>
            </a:extLst>
          </p:cNvPr>
          <p:cNvSpPr txBox="1"/>
          <p:nvPr/>
        </p:nvSpPr>
        <p:spPr>
          <a:xfrm>
            <a:off x="984250" y="1970207"/>
            <a:ext cx="72771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Detail Alasan Per Model: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1FA013-E897-4CD2-00E3-4BF8E1B2C69E}"/>
              </a:ext>
            </a:extLst>
          </p:cNvPr>
          <p:cNvSpPr txBox="1"/>
          <p:nvPr/>
        </p:nvSpPr>
        <p:spPr>
          <a:xfrm>
            <a:off x="984250" y="2040741"/>
            <a:ext cx="732155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D" sz="1100" dirty="0">
              <a:solidFill>
                <a:schemeClr val="accent2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100" b="1" dirty="0">
                <a:solidFill>
                  <a:schemeClr val="accent2"/>
                </a:solidFill>
                <a:latin typeface="Montserrat" panose="00000500000000000000" pitchFamily="2" charset="0"/>
              </a:rPr>
              <a:t>Logistic Regression (LR):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Digunakan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sebagai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i="1" dirty="0">
                <a:solidFill>
                  <a:schemeClr val="accent2"/>
                </a:solidFill>
                <a:latin typeface="Montserrat" panose="00000500000000000000" pitchFamily="2" charset="0"/>
              </a:rPr>
              <a:t>baseline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model yang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efisien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untuk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klasifikasi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biner dan sangat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mudah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diinterpretasikan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dalam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konteks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medis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662C31-37B2-C187-4B78-863BFF4E7A86}"/>
              </a:ext>
            </a:extLst>
          </p:cNvPr>
          <p:cNvSpPr txBox="1"/>
          <p:nvPr/>
        </p:nvSpPr>
        <p:spPr>
          <a:xfrm>
            <a:off x="984250" y="2617331"/>
            <a:ext cx="73215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100" b="1" dirty="0">
                <a:solidFill>
                  <a:schemeClr val="accent2"/>
                </a:solidFill>
                <a:latin typeface="Montserrat" panose="00000500000000000000" pitchFamily="2" charset="0"/>
              </a:rPr>
              <a:t>Decision Tree (DT):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Dipilih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karena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alur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logikanya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menyerupai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pengambilan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keputusan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klinis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berdasarkan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aturan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ambang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batas (</a:t>
            </a:r>
            <a:r>
              <a:rPr lang="en-ID" sz="1100" i="1" dirty="0">
                <a:solidFill>
                  <a:schemeClr val="accent2"/>
                </a:solidFill>
                <a:latin typeface="Montserrat" panose="00000500000000000000" pitchFamily="2" charset="0"/>
              </a:rPr>
              <a:t>threshold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9431C0-02F2-07C7-E129-09B0FA018397}"/>
              </a:ext>
            </a:extLst>
          </p:cNvPr>
          <p:cNvSpPr txBox="1"/>
          <p:nvPr/>
        </p:nvSpPr>
        <p:spPr>
          <a:xfrm>
            <a:off x="984250" y="3026419"/>
            <a:ext cx="72771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100" b="1" dirty="0">
                <a:solidFill>
                  <a:schemeClr val="accent2"/>
                </a:solidFill>
                <a:latin typeface="Montserrat" panose="00000500000000000000" pitchFamily="2" charset="0"/>
              </a:rPr>
              <a:t>Random Forest (RF):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Merupakan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metode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i="1" dirty="0">
                <a:solidFill>
                  <a:schemeClr val="accent2"/>
                </a:solidFill>
                <a:latin typeface="Montserrat" panose="00000500000000000000" pitchFamily="2" charset="0"/>
              </a:rPr>
              <a:t>ensemble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yang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menggabungkan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banyak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pohon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keputusan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untuk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meningkatkan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stabilitas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prediksi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dan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meminimalisir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kesalahan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(</a:t>
            </a:r>
            <a:r>
              <a:rPr lang="en-ID" sz="1100" i="1" dirty="0">
                <a:solidFill>
                  <a:schemeClr val="accent2"/>
                </a:solidFill>
                <a:latin typeface="Montserrat" panose="00000500000000000000" pitchFamily="2" charset="0"/>
              </a:rPr>
              <a:t>overfitting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AAEC4A-9F93-4CB1-D082-AE8786A6173A}"/>
              </a:ext>
            </a:extLst>
          </p:cNvPr>
          <p:cNvSpPr txBox="1"/>
          <p:nvPr/>
        </p:nvSpPr>
        <p:spPr>
          <a:xfrm>
            <a:off x="984250" y="3457306"/>
            <a:ext cx="72771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100" b="1" dirty="0">
                <a:solidFill>
                  <a:schemeClr val="accent2"/>
                </a:solidFill>
                <a:latin typeface="Montserrat" panose="00000500000000000000" pitchFamily="2" charset="0"/>
              </a:rPr>
              <a:t>Multi-Layer Perceptron (MLP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):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Mengadopsi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pendekatan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i="1" dirty="0">
                <a:solidFill>
                  <a:schemeClr val="accent2"/>
                </a:solidFill>
                <a:latin typeface="Montserrat" panose="00000500000000000000" pitchFamily="2" charset="0"/>
              </a:rPr>
              <a:t>Deep Learning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untuk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menangkap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hubungan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non-linear yang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lebih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rumit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di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antara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berbagai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variabel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ID" sz="1100" dirty="0" err="1">
                <a:solidFill>
                  <a:schemeClr val="accent2"/>
                </a:solidFill>
                <a:latin typeface="Montserrat" panose="00000500000000000000" pitchFamily="2" charset="0"/>
              </a:rPr>
              <a:t>kesehatan</a:t>
            </a:r>
            <a:r>
              <a:rPr lang="en-ID" sz="1100" dirty="0">
                <a:solidFill>
                  <a:schemeClr val="accent2"/>
                </a:solidFill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7855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2578A2A-7F6F-8A37-9A6F-CD909F22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CD9D5DAB-2548-4635-C5DE-D016B211F7BB}"/>
              </a:ext>
            </a:extLst>
          </p:cNvPr>
          <p:cNvSpPr txBox="1">
            <a:spLocks/>
          </p:cNvSpPr>
          <p:nvPr/>
        </p:nvSpPr>
        <p:spPr>
          <a:xfrm>
            <a:off x="1134531" y="177363"/>
            <a:ext cx="6620936" cy="13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 dirty="0"/>
              <a:t>Logistic Regression</a:t>
            </a:r>
            <a:endParaRPr lang="en-ID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7962C-F347-9756-4DD8-8F62A7B99F68}"/>
              </a:ext>
            </a:extLst>
          </p:cNvPr>
          <p:cNvSpPr txBox="1"/>
          <p:nvPr/>
        </p:nvSpPr>
        <p:spPr>
          <a:xfrm>
            <a:off x="806449" y="1239555"/>
            <a:ext cx="7277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Montserrat" panose="00000500000000000000" pitchFamily="2" charset="0"/>
              </a:rPr>
              <a:t>Data yang </a:t>
            </a:r>
            <a:r>
              <a:rPr lang="en-US" sz="1200" dirty="0" err="1">
                <a:latin typeface="Montserrat" panose="00000500000000000000" pitchFamily="2" charset="0"/>
              </a:rPr>
              <a:t>telah</a:t>
            </a:r>
            <a:r>
              <a:rPr lang="en-US" sz="1200" dirty="0">
                <a:latin typeface="Montserrat" panose="00000500000000000000" pitchFamily="2" charset="0"/>
              </a:rPr>
              <a:t> di processing </a:t>
            </a:r>
            <a:r>
              <a:rPr lang="en-US" sz="1200" dirty="0" err="1">
                <a:latin typeface="Montserrat" panose="00000500000000000000" pitchFamily="2" charset="0"/>
              </a:rPr>
              <a:t>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dianalisis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menggunakan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beberapa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algoritma</a:t>
            </a:r>
            <a:r>
              <a:rPr lang="en-US" sz="1200" dirty="0">
                <a:latin typeface="Montserrat" panose="00000500000000000000" pitchFamily="2" charset="0"/>
              </a:rPr>
              <a:t> model </a:t>
            </a:r>
            <a:r>
              <a:rPr lang="en-US" sz="1200" dirty="0" err="1">
                <a:latin typeface="Montserrat" panose="00000500000000000000" pitchFamily="2" charset="0"/>
              </a:rPr>
              <a:t>untuk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mencari</a:t>
            </a:r>
            <a:r>
              <a:rPr lang="en-US" sz="1200" dirty="0">
                <a:latin typeface="Montserrat" panose="00000500000000000000" pitchFamily="2" charset="0"/>
              </a:rPr>
              <a:t> mana yang paling optimal dan </a:t>
            </a:r>
            <a:r>
              <a:rPr lang="en-US" sz="1200" dirty="0" err="1">
                <a:latin typeface="Montserrat" panose="00000500000000000000" pitchFamily="2" charset="0"/>
              </a:rPr>
              <a:t>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dibandingkan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akurasinya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sebelum</a:t>
            </a:r>
            <a:r>
              <a:rPr lang="en-US" sz="1200" dirty="0">
                <a:latin typeface="Montserrat" panose="00000500000000000000" pitchFamily="2" charset="0"/>
              </a:rPr>
              <a:t> dan </a:t>
            </a:r>
            <a:r>
              <a:rPr lang="en-US" sz="1200" dirty="0" err="1">
                <a:latin typeface="Montserrat" panose="00000500000000000000" pitchFamily="2" charset="0"/>
              </a:rPr>
              <a:t>sesudah</a:t>
            </a:r>
            <a:r>
              <a:rPr lang="en-US" sz="1200" dirty="0">
                <a:latin typeface="Montserrat" panose="00000500000000000000" pitchFamily="2" charset="0"/>
              </a:rPr>
              <a:t> hyperparameter tuning.</a:t>
            </a:r>
            <a:endParaRPr lang="en-ID" sz="1200" dirty="0"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12B255-2E25-1B2F-260D-B550E48D7FFE}"/>
              </a:ext>
            </a:extLst>
          </p:cNvPr>
          <p:cNvSpPr txBox="1"/>
          <p:nvPr/>
        </p:nvSpPr>
        <p:spPr>
          <a:xfrm>
            <a:off x="1512940" y="2099679"/>
            <a:ext cx="1295400" cy="28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Poppins "/>
              </a:rPr>
              <a:t>Before Tuning</a:t>
            </a:r>
            <a:endParaRPr lang="en-ID" sz="1200" dirty="0">
              <a:latin typeface="Poppins 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A489C-6ED4-4F0B-A7F6-78CE896B6AEE}"/>
              </a:ext>
            </a:extLst>
          </p:cNvPr>
          <p:cNvSpPr txBox="1"/>
          <p:nvPr/>
        </p:nvSpPr>
        <p:spPr>
          <a:xfrm>
            <a:off x="6047415" y="2086920"/>
            <a:ext cx="1295400" cy="28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Poppins "/>
              </a:rPr>
              <a:t>After Tuning</a:t>
            </a:r>
            <a:endParaRPr lang="en-ID" sz="1200" dirty="0">
              <a:latin typeface="Poppins 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81312D-EC2D-83CE-8B9A-3B41B1881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40" y="2571750"/>
            <a:ext cx="3960000" cy="14875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D45B13-E009-4A0E-5CAC-92CA6F02F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800" y="2571750"/>
            <a:ext cx="4144631" cy="14875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C12DC0-BCC0-A99A-0374-A921E94E3308}"/>
              </a:ext>
            </a:extLst>
          </p:cNvPr>
          <p:cNvSpPr txBox="1"/>
          <p:nvPr/>
        </p:nvSpPr>
        <p:spPr>
          <a:xfrm flipH="1">
            <a:off x="2968890" y="3324093"/>
            <a:ext cx="352160" cy="28270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9A069-2780-180E-AFAF-F9F1B8959912}"/>
              </a:ext>
            </a:extLst>
          </p:cNvPr>
          <p:cNvSpPr txBox="1"/>
          <p:nvPr/>
        </p:nvSpPr>
        <p:spPr>
          <a:xfrm flipH="1">
            <a:off x="7610740" y="3366426"/>
            <a:ext cx="352160" cy="28270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25680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4C039F3-3C1D-CDAE-128C-0265C4958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8A0143A8-B941-043E-8E6B-24C630F98B98}"/>
              </a:ext>
            </a:extLst>
          </p:cNvPr>
          <p:cNvSpPr txBox="1">
            <a:spLocks/>
          </p:cNvSpPr>
          <p:nvPr/>
        </p:nvSpPr>
        <p:spPr>
          <a:xfrm>
            <a:off x="1134531" y="177363"/>
            <a:ext cx="6620936" cy="13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 dirty="0"/>
              <a:t>Random Forest</a:t>
            </a:r>
            <a:endParaRPr lang="en-ID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81F408-1321-D273-B625-E4F2374B14C9}"/>
              </a:ext>
            </a:extLst>
          </p:cNvPr>
          <p:cNvSpPr txBox="1"/>
          <p:nvPr/>
        </p:nvSpPr>
        <p:spPr>
          <a:xfrm>
            <a:off x="1642924" y="2099680"/>
            <a:ext cx="1295400" cy="28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Poppins "/>
              </a:rPr>
              <a:t>Before Tuning</a:t>
            </a:r>
            <a:endParaRPr lang="en-ID" sz="1200" dirty="0">
              <a:latin typeface="Poppins 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27DFF-62B8-3BC0-A3D8-908F05FFDBBC}"/>
              </a:ext>
            </a:extLst>
          </p:cNvPr>
          <p:cNvSpPr txBox="1"/>
          <p:nvPr/>
        </p:nvSpPr>
        <p:spPr>
          <a:xfrm>
            <a:off x="6053119" y="2099680"/>
            <a:ext cx="1295400" cy="28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Poppins "/>
              </a:rPr>
              <a:t>After Tuning</a:t>
            </a:r>
            <a:endParaRPr lang="en-ID" sz="1200" dirty="0">
              <a:latin typeface="Poppins 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9544E6-BA6B-8F06-E365-274662AAA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24" y="2620899"/>
            <a:ext cx="3960000" cy="142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F3CCEE-555E-4E64-BBFA-859001C61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819" y="2625476"/>
            <a:ext cx="3960000" cy="14411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FC0AC7-11E9-270B-9CFC-188D48499FE8}"/>
              </a:ext>
            </a:extLst>
          </p:cNvPr>
          <p:cNvSpPr txBox="1"/>
          <p:nvPr/>
        </p:nvSpPr>
        <p:spPr>
          <a:xfrm>
            <a:off x="806449" y="1152423"/>
            <a:ext cx="7277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Montserrat" panose="00000500000000000000" pitchFamily="2" charset="0"/>
              </a:rPr>
              <a:t>Data yang </a:t>
            </a:r>
            <a:r>
              <a:rPr lang="en-US" sz="1200" dirty="0" err="1">
                <a:latin typeface="Montserrat" panose="00000500000000000000" pitchFamily="2" charset="0"/>
              </a:rPr>
              <a:t>telah</a:t>
            </a:r>
            <a:r>
              <a:rPr lang="en-US" sz="1200" dirty="0">
                <a:latin typeface="Montserrat" panose="00000500000000000000" pitchFamily="2" charset="0"/>
              </a:rPr>
              <a:t> di processing </a:t>
            </a:r>
            <a:r>
              <a:rPr lang="en-US" sz="1200" dirty="0" err="1">
                <a:latin typeface="Montserrat" panose="00000500000000000000" pitchFamily="2" charset="0"/>
              </a:rPr>
              <a:t>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dianalisis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menggunakan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beberapa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algoritma</a:t>
            </a:r>
            <a:r>
              <a:rPr lang="en-US" sz="1200" dirty="0">
                <a:latin typeface="Montserrat" panose="00000500000000000000" pitchFamily="2" charset="0"/>
              </a:rPr>
              <a:t> model </a:t>
            </a:r>
            <a:r>
              <a:rPr lang="en-US" sz="1200" dirty="0" err="1">
                <a:latin typeface="Montserrat" panose="00000500000000000000" pitchFamily="2" charset="0"/>
              </a:rPr>
              <a:t>untuk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mencari</a:t>
            </a:r>
            <a:r>
              <a:rPr lang="en-US" sz="1200" dirty="0">
                <a:latin typeface="Montserrat" panose="00000500000000000000" pitchFamily="2" charset="0"/>
              </a:rPr>
              <a:t> mana yang paling optimal dan </a:t>
            </a:r>
            <a:r>
              <a:rPr lang="en-US" sz="1200" dirty="0" err="1">
                <a:latin typeface="Montserrat" panose="00000500000000000000" pitchFamily="2" charset="0"/>
              </a:rPr>
              <a:t>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dibandingkan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akurasinya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sebelum</a:t>
            </a:r>
            <a:r>
              <a:rPr lang="en-US" sz="1200" dirty="0">
                <a:latin typeface="Montserrat" panose="00000500000000000000" pitchFamily="2" charset="0"/>
              </a:rPr>
              <a:t> dan </a:t>
            </a:r>
            <a:r>
              <a:rPr lang="en-US" sz="1200" dirty="0" err="1">
                <a:latin typeface="Montserrat" panose="00000500000000000000" pitchFamily="2" charset="0"/>
              </a:rPr>
              <a:t>sesudah</a:t>
            </a:r>
            <a:r>
              <a:rPr lang="en-US" sz="1200" dirty="0">
                <a:latin typeface="Montserrat" panose="00000500000000000000" pitchFamily="2" charset="0"/>
              </a:rPr>
              <a:t> hyperparameter tuning.</a:t>
            </a:r>
            <a:endParaRPr lang="en-ID" sz="1200" dirty="0">
              <a:latin typeface="Montserrat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ED1618-43A5-DF47-FE1D-3F9732782E02}"/>
              </a:ext>
            </a:extLst>
          </p:cNvPr>
          <p:cNvSpPr txBox="1"/>
          <p:nvPr/>
        </p:nvSpPr>
        <p:spPr>
          <a:xfrm flipH="1">
            <a:off x="3117057" y="3333399"/>
            <a:ext cx="352160" cy="28270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500E67-66A2-6D26-A5C7-73589E709D2E}"/>
              </a:ext>
            </a:extLst>
          </p:cNvPr>
          <p:cNvSpPr txBox="1"/>
          <p:nvPr/>
        </p:nvSpPr>
        <p:spPr>
          <a:xfrm flipH="1">
            <a:off x="7532424" y="3346066"/>
            <a:ext cx="352160" cy="28270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86191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20DFABA-21D8-2C4B-367C-305CE37D5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C68EC7C3-490C-1EE7-3955-62C7B49657A6}"/>
              </a:ext>
            </a:extLst>
          </p:cNvPr>
          <p:cNvSpPr txBox="1">
            <a:spLocks/>
          </p:cNvSpPr>
          <p:nvPr/>
        </p:nvSpPr>
        <p:spPr>
          <a:xfrm>
            <a:off x="1134531" y="177363"/>
            <a:ext cx="6620936" cy="13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 dirty="0"/>
              <a:t>Decision Tree</a:t>
            </a:r>
            <a:endParaRPr lang="en-ID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FC651-7C78-C987-5ECA-D82E1D474E33}"/>
              </a:ext>
            </a:extLst>
          </p:cNvPr>
          <p:cNvSpPr txBox="1"/>
          <p:nvPr/>
        </p:nvSpPr>
        <p:spPr>
          <a:xfrm>
            <a:off x="1777868" y="2099680"/>
            <a:ext cx="1295400" cy="28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Poppins "/>
              </a:rPr>
              <a:t>Before Tuning</a:t>
            </a:r>
            <a:endParaRPr lang="en-ID" sz="1200" dirty="0">
              <a:latin typeface="Poppins 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32B22-B616-306C-2D47-FF69F604453C}"/>
              </a:ext>
            </a:extLst>
          </p:cNvPr>
          <p:cNvSpPr txBox="1"/>
          <p:nvPr/>
        </p:nvSpPr>
        <p:spPr>
          <a:xfrm>
            <a:off x="6223584" y="2099679"/>
            <a:ext cx="1295400" cy="28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Poppins "/>
              </a:rPr>
              <a:t>After Tuning</a:t>
            </a:r>
            <a:endParaRPr lang="en-ID" sz="1200" dirty="0">
              <a:latin typeface="Poppins 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899502-1994-9707-334B-CB9731634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68" y="2571751"/>
            <a:ext cx="3960000" cy="1384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339833-8DC1-0D9D-0DE2-5B499C232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869" y="2589727"/>
            <a:ext cx="4062831" cy="14145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A4EEFA-9B9F-FDA5-165F-4B1EF63A9C72}"/>
              </a:ext>
            </a:extLst>
          </p:cNvPr>
          <p:cNvSpPr txBox="1"/>
          <p:nvPr/>
        </p:nvSpPr>
        <p:spPr>
          <a:xfrm>
            <a:off x="806449" y="1174664"/>
            <a:ext cx="7277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Montserrat" panose="00000500000000000000" pitchFamily="2" charset="0"/>
              </a:rPr>
              <a:t>Data yang </a:t>
            </a:r>
            <a:r>
              <a:rPr lang="en-US" sz="1200" dirty="0" err="1">
                <a:latin typeface="Montserrat" panose="00000500000000000000" pitchFamily="2" charset="0"/>
              </a:rPr>
              <a:t>telah</a:t>
            </a:r>
            <a:r>
              <a:rPr lang="en-US" sz="1200" dirty="0">
                <a:latin typeface="Montserrat" panose="00000500000000000000" pitchFamily="2" charset="0"/>
              </a:rPr>
              <a:t> di processing </a:t>
            </a:r>
            <a:r>
              <a:rPr lang="en-US" sz="1200" dirty="0" err="1">
                <a:latin typeface="Montserrat" panose="00000500000000000000" pitchFamily="2" charset="0"/>
              </a:rPr>
              <a:t>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dianalisis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menggunakan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beberapa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algoritma</a:t>
            </a:r>
            <a:r>
              <a:rPr lang="en-US" sz="1200" dirty="0">
                <a:latin typeface="Montserrat" panose="00000500000000000000" pitchFamily="2" charset="0"/>
              </a:rPr>
              <a:t> model </a:t>
            </a:r>
            <a:r>
              <a:rPr lang="en-US" sz="1200" dirty="0" err="1">
                <a:latin typeface="Montserrat" panose="00000500000000000000" pitchFamily="2" charset="0"/>
              </a:rPr>
              <a:t>untuk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mencari</a:t>
            </a:r>
            <a:r>
              <a:rPr lang="en-US" sz="1200" dirty="0">
                <a:latin typeface="Montserrat" panose="00000500000000000000" pitchFamily="2" charset="0"/>
              </a:rPr>
              <a:t> mana yang paling optimal dan </a:t>
            </a:r>
            <a:r>
              <a:rPr lang="en-US" sz="1200" dirty="0" err="1">
                <a:latin typeface="Montserrat" panose="00000500000000000000" pitchFamily="2" charset="0"/>
              </a:rPr>
              <a:t>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dibandingkan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akurasinya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sebelum</a:t>
            </a:r>
            <a:r>
              <a:rPr lang="en-US" sz="1200" dirty="0">
                <a:latin typeface="Montserrat" panose="00000500000000000000" pitchFamily="2" charset="0"/>
              </a:rPr>
              <a:t> dan </a:t>
            </a:r>
            <a:r>
              <a:rPr lang="en-US" sz="1200" dirty="0" err="1">
                <a:latin typeface="Montserrat" panose="00000500000000000000" pitchFamily="2" charset="0"/>
              </a:rPr>
              <a:t>sesudah</a:t>
            </a:r>
            <a:r>
              <a:rPr lang="en-US" sz="1200" dirty="0">
                <a:latin typeface="Montserrat" panose="00000500000000000000" pitchFamily="2" charset="0"/>
              </a:rPr>
              <a:t> hyperparameter tuning.</a:t>
            </a:r>
            <a:endParaRPr lang="en-ID" sz="1200" dirty="0">
              <a:latin typeface="Montserrat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9EFBE1-83BD-474E-9BE6-74535581ED3D}"/>
              </a:ext>
            </a:extLst>
          </p:cNvPr>
          <p:cNvSpPr txBox="1"/>
          <p:nvPr/>
        </p:nvSpPr>
        <p:spPr>
          <a:xfrm flipH="1">
            <a:off x="3269457" y="3263863"/>
            <a:ext cx="352160" cy="28270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321F5D-4228-67A9-6266-62B17A1C4D12}"/>
              </a:ext>
            </a:extLst>
          </p:cNvPr>
          <p:cNvSpPr txBox="1"/>
          <p:nvPr/>
        </p:nvSpPr>
        <p:spPr>
          <a:xfrm flipH="1">
            <a:off x="7693290" y="3297008"/>
            <a:ext cx="352160" cy="28270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13447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5A3D5CA-54EA-91D2-A58A-654AC2B3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226B0E80-E005-2C21-E1A1-6D9EEA770159}"/>
              </a:ext>
            </a:extLst>
          </p:cNvPr>
          <p:cNvSpPr txBox="1">
            <a:spLocks/>
          </p:cNvSpPr>
          <p:nvPr/>
        </p:nvSpPr>
        <p:spPr>
          <a:xfrm>
            <a:off x="1134531" y="177363"/>
            <a:ext cx="6620936" cy="13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2400" dirty="0"/>
              <a:t>Multi-Layer Perception</a:t>
            </a:r>
            <a:endParaRPr lang="en-ID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B8426-CF92-90E8-8687-62D3F294A0DC}"/>
              </a:ext>
            </a:extLst>
          </p:cNvPr>
          <p:cNvSpPr txBox="1"/>
          <p:nvPr/>
        </p:nvSpPr>
        <p:spPr>
          <a:xfrm>
            <a:off x="1823820" y="2131983"/>
            <a:ext cx="1295400" cy="28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Poppins "/>
              </a:rPr>
              <a:t>Before Tuning</a:t>
            </a:r>
            <a:endParaRPr lang="en-ID" sz="1200" dirty="0">
              <a:latin typeface="Poppins 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D1BC5-34AB-F7AC-8EB2-3EB6F1B88435}"/>
              </a:ext>
            </a:extLst>
          </p:cNvPr>
          <p:cNvSpPr txBox="1"/>
          <p:nvPr/>
        </p:nvSpPr>
        <p:spPr>
          <a:xfrm>
            <a:off x="6145628" y="2091944"/>
            <a:ext cx="1295400" cy="28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Poppins "/>
              </a:rPr>
              <a:t>After Tuning</a:t>
            </a:r>
            <a:endParaRPr lang="en-ID" sz="1200" dirty="0">
              <a:latin typeface="Poppins 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C10042-27B5-C5D6-0E67-5E05B609C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20" y="2671952"/>
            <a:ext cx="3960000" cy="14027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DED3C8-8B2E-BF5D-ED2F-2E43BED4B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114" y="2671952"/>
            <a:ext cx="4010428" cy="13963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09B777-6D21-45F6-1364-B41D0677AF37}"/>
              </a:ext>
            </a:extLst>
          </p:cNvPr>
          <p:cNvSpPr txBox="1"/>
          <p:nvPr/>
        </p:nvSpPr>
        <p:spPr>
          <a:xfrm>
            <a:off x="806449" y="1214007"/>
            <a:ext cx="7277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Montserrat" panose="00000500000000000000" pitchFamily="2" charset="0"/>
              </a:rPr>
              <a:t>Data yang </a:t>
            </a:r>
            <a:r>
              <a:rPr lang="en-US" sz="1200" dirty="0" err="1">
                <a:latin typeface="Montserrat" panose="00000500000000000000" pitchFamily="2" charset="0"/>
              </a:rPr>
              <a:t>telah</a:t>
            </a:r>
            <a:r>
              <a:rPr lang="en-US" sz="1200" dirty="0">
                <a:latin typeface="Montserrat" panose="00000500000000000000" pitchFamily="2" charset="0"/>
              </a:rPr>
              <a:t> di processing </a:t>
            </a:r>
            <a:r>
              <a:rPr lang="en-US" sz="1200" dirty="0" err="1">
                <a:latin typeface="Montserrat" panose="00000500000000000000" pitchFamily="2" charset="0"/>
              </a:rPr>
              <a:t>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dianalisis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menggunakan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beberapa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algoritma</a:t>
            </a:r>
            <a:r>
              <a:rPr lang="en-US" sz="1200" dirty="0">
                <a:latin typeface="Montserrat" panose="00000500000000000000" pitchFamily="2" charset="0"/>
              </a:rPr>
              <a:t> model </a:t>
            </a:r>
            <a:r>
              <a:rPr lang="en-US" sz="1200" dirty="0" err="1">
                <a:latin typeface="Montserrat" panose="00000500000000000000" pitchFamily="2" charset="0"/>
              </a:rPr>
              <a:t>untuk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mencari</a:t>
            </a:r>
            <a:r>
              <a:rPr lang="en-US" sz="1200" dirty="0">
                <a:latin typeface="Montserrat" panose="00000500000000000000" pitchFamily="2" charset="0"/>
              </a:rPr>
              <a:t> mana yang paling optimal dan </a:t>
            </a:r>
            <a:r>
              <a:rPr lang="en-US" sz="1200" dirty="0" err="1">
                <a:latin typeface="Montserrat" panose="00000500000000000000" pitchFamily="2" charset="0"/>
              </a:rPr>
              <a:t>akan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dibandingkan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akurasinya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sebelum</a:t>
            </a:r>
            <a:r>
              <a:rPr lang="en-US" sz="1200" dirty="0">
                <a:latin typeface="Montserrat" panose="00000500000000000000" pitchFamily="2" charset="0"/>
              </a:rPr>
              <a:t> dan </a:t>
            </a:r>
            <a:r>
              <a:rPr lang="en-US" sz="1200" dirty="0" err="1">
                <a:latin typeface="Montserrat" panose="00000500000000000000" pitchFamily="2" charset="0"/>
              </a:rPr>
              <a:t>sesudah</a:t>
            </a:r>
            <a:r>
              <a:rPr lang="en-US" sz="1200" dirty="0">
                <a:latin typeface="Montserrat" panose="00000500000000000000" pitchFamily="2" charset="0"/>
              </a:rPr>
              <a:t> hyperparameter tuning.</a:t>
            </a:r>
            <a:endParaRPr lang="en-ID" sz="1200" dirty="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BEE241-0896-BE5A-4E7A-D53B726E4055}"/>
              </a:ext>
            </a:extLst>
          </p:cNvPr>
          <p:cNvSpPr txBox="1"/>
          <p:nvPr/>
        </p:nvSpPr>
        <p:spPr>
          <a:xfrm flipH="1">
            <a:off x="3303536" y="3426411"/>
            <a:ext cx="354278" cy="227672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88BCFF-583A-8906-F03F-501FD97256F0}"/>
              </a:ext>
            </a:extLst>
          </p:cNvPr>
          <p:cNvSpPr txBox="1"/>
          <p:nvPr/>
        </p:nvSpPr>
        <p:spPr>
          <a:xfrm flipH="1">
            <a:off x="7638470" y="3468744"/>
            <a:ext cx="354278" cy="227672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33363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E86A1DA-6759-8CDA-A283-AC2B225A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FCE17C-7BE6-2360-D93C-143422166865}"/>
              </a:ext>
            </a:extLst>
          </p:cNvPr>
          <p:cNvSpPr txBox="1"/>
          <p:nvPr/>
        </p:nvSpPr>
        <p:spPr>
          <a:xfrm>
            <a:off x="765174" y="1615089"/>
            <a:ext cx="773536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D" sz="1200" b="1" dirty="0"/>
              <a:t>Random Forest (Model </a:t>
            </a:r>
            <a:r>
              <a:rPr lang="en-ID" sz="1200" b="1" dirty="0" err="1"/>
              <a:t>Terbaik</a:t>
            </a:r>
            <a:r>
              <a:rPr lang="en-ID" sz="1200" b="1" dirty="0"/>
              <a:t>):</a:t>
            </a:r>
            <a:r>
              <a:rPr lang="en-ID" sz="1200" dirty="0"/>
              <a:t> </a:t>
            </a:r>
            <a:r>
              <a:rPr lang="en-ID" sz="1200" dirty="0" err="1"/>
              <a:t>Mengalami</a:t>
            </a:r>
            <a:r>
              <a:rPr lang="en-ID" sz="1200" dirty="0"/>
              <a:t> </a:t>
            </a:r>
            <a:r>
              <a:rPr lang="en-ID" sz="1200" dirty="0" err="1"/>
              <a:t>peningkatan</a:t>
            </a:r>
            <a:r>
              <a:rPr lang="en-ID" sz="1200" dirty="0"/>
              <a:t> </a:t>
            </a:r>
            <a:r>
              <a:rPr lang="en-ID" sz="1200" dirty="0" err="1"/>
              <a:t>akurasi</a:t>
            </a:r>
            <a:r>
              <a:rPr lang="en-ID" sz="1200" dirty="0"/>
              <a:t> paling </a:t>
            </a:r>
            <a:r>
              <a:rPr lang="en-ID" sz="1200" dirty="0" err="1"/>
              <a:t>signifikan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b="1" dirty="0"/>
              <a:t>81% </a:t>
            </a:r>
            <a:r>
              <a:rPr lang="en-ID" sz="1200" b="1" dirty="0" err="1"/>
              <a:t>menjadi</a:t>
            </a:r>
            <a:r>
              <a:rPr lang="en-ID" sz="1200" b="1" dirty="0"/>
              <a:t> 86%</a:t>
            </a:r>
            <a:r>
              <a:rPr lang="en-ID" sz="1200" dirty="0"/>
              <a:t>, </a:t>
            </a:r>
            <a:r>
              <a:rPr lang="en-ID" sz="1200" dirty="0" err="1"/>
              <a:t>menjadikannya</a:t>
            </a:r>
            <a:r>
              <a:rPr lang="en-ID" sz="1200" dirty="0"/>
              <a:t> model yang paling </a:t>
            </a:r>
            <a:r>
              <a:rPr lang="en-ID" sz="1200" dirty="0" err="1"/>
              <a:t>akurat</a:t>
            </a:r>
            <a:r>
              <a:rPr lang="en-ID" sz="1200" dirty="0"/>
              <a:t> dan </a:t>
            </a:r>
            <a:r>
              <a:rPr lang="en-ID" sz="1200" dirty="0" err="1"/>
              <a:t>stabil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prediksi</a:t>
            </a:r>
            <a:r>
              <a:rPr lang="en-ID" sz="1200" dirty="0"/>
              <a:t> </a:t>
            </a:r>
            <a:r>
              <a:rPr lang="en-ID" sz="1200" dirty="0" err="1"/>
              <a:t>ini</a:t>
            </a:r>
            <a:r>
              <a:rPr lang="en-ID" sz="12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D" sz="1200" b="1" dirty="0"/>
          </a:p>
          <a:p>
            <a:pPr marL="342900" indent="-342900">
              <a:buFont typeface="+mj-lt"/>
              <a:buAutoNum type="arabicPeriod"/>
            </a:pPr>
            <a:r>
              <a:rPr lang="en-ID" sz="1200" b="1" dirty="0"/>
              <a:t>Logistic Regression:</a:t>
            </a:r>
            <a:r>
              <a:rPr lang="en-ID" sz="1200" dirty="0"/>
              <a:t> </a:t>
            </a:r>
            <a:r>
              <a:rPr lang="en-ID" sz="1200" dirty="0" err="1"/>
              <a:t>Menunjukkan</a:t>
            </a:r>
            <a:r>
              <a:rPr lang="en-ID" sz="1200" dirty="0"/>
              <a:t> </a:t>
            </a:r>
            <a:r>
              <a:rPr lang="en-ID" sz="1200" dirty="0" err="1"/>
              <a:t>konsistensi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akurasi</a:t>
            </a:r>
            <a:r>
              <a:rPr lang="en-ID" sz="1200" dirty="0"/>
              <a:t> yang </a:t>
            </a:r>
            <a:r>
              <a:rPr lang="en-ID" sz="1200" dirty="0" err="1"/>
              <a:t>tetap</a:t>
            </a:r>
            <a:r>
              <a:rPr lang="en-ID" sz="1200" dirty="0"/>
              <a:t> </a:t>
            </a:r>
            <a:r>
              <a:rPr lang="en-ID" sz="1200" dirty="0" err="1"/>
              <a:t>stabil</a:t>
            </a:r>
            <a:r>
              <a:rPr lang="en-ID" sz="1200" dirty="0"/>
              <a:t> pada </a:t>
            </a:r>
            <a:r>
              <a:rPr lang="en-ID" sz="1200" dirty="0" err="1"/>
              <a:t>angka</a:t>
            </a:r>
            <a:r>
              <a:rPr lang="en-ID" sz="1200" dirty="0"/>
              <a:t> </a:t>
            </a:r>
            <a:r>
              <a:rPr lang="en-ID" sz="1200" b="1" dirty="0"/>
              <a:t>84%</a:t>
            </a:r>
            <a:r>
              <a:rPr lang="en-ID" sz="1200" dirty="0"/>
              <a:t>, </a:t>
            </a:r>
            <a:r>
              <a:rPr lang="en-ID" sz="1200" dirty="0" err="1"/>
              <a:t>tanpa</a:t>
            </a:r>
            <a:r>
              <a:rPr lang="en-ID" sz="1200" dirty="0"/>
              <a:t> </a:t>
            </a:r>
            <a:r>
              <a:rPr lang="en-ID" sz="1200" dirty="0" err="1"/>
              <a:t>mengalami</a:t>
            </a:r>
            <a:r>
              <a:rPr lang="en-ID" sz="1200" dirty="0"/>
              <a:t> </a:t>
            </a:r>
            <a:r>
              <a:rPr lang="en-ID" sz="1200" dirty="0" err="1"/>
              <a:t>perubahan</a:t>
            </a:r>
            <a:r>
              <a:rPr lang="en-ID" sz="1200" dirty="0"/>
              <a:t> </a:t>
            </a:r>
            <a:r>
              <a:rPr lang="en-ID" sz="1200" dirty="0" err="1"/>
              <a:t>setelah</a:t>
            </a:r>
            <a:r>
              <a:rPr lang="en-ID" sz="1200" dirty="0"/>
              <a:t> proses </a:t>
            </a:r>
            <a:r>
              <a:rPr lang="en-ID" sz="1200" dirty="0" err="1"/>
              <a:t>optimasi</a:t>
            </a:r>
            <a:r>
              <a:rPr lang="en-ID" sz="12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D" sz="1200" b="1" dirty="0"/>
          </a:p>
          <a:p>
            <a:pPr marL="342900" indent="-342900">
              <a:buFont typeface="+mj-lt"/>
              <a:buAutoNum type="arabicPeriod"/>
            </a:pPr>
            <a:r>
              <a:rPr lang="en-ID" sz="1200" b="1" dirty="0"/>
              <a:t>Decision Tree:</a:t>
            </a:r>
            <a:r>
              <a:rPr lang="en-ID" sz="1200" dirty="0"/>
              <a:t> </a:t>
            </a:r>
            <a:r>
              <a:rPr lang="en-ID" sz="1200" dirty="0" err="1"/>
              <a:t>Berhasil</a:t>
            </a:r>
            <a:r>
              <a:rPr lang="en-ID" sz="1200" dirty="0"/>
              <a:t> </a:t>
            </a:r>
            <a:r>
              <a:rPr lang="en-ID" sz="1200" dirty="0" err="1"/>
              <a:t>mencapai</a:t>
            </a:r>
            <a:r>
              <a:rPr lang="en-ID" sz="1200" dirty="0"/>
              <a:t> </a:t>
            </a:r>
            <a:r>
              <a:rPr lang="en-ID" sz="1200" dirty="0" err="1"/>
              <a:t>peningkatan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 yang </a:t>
            </a:r>
            <a:r>
              <a:rPr lang="en-ID" sz="1200" dirty="0" err="1"/>
              <a:t>cukup</a:t>
            </a:r>
            <a:r>
              <a:rPr lang="en-ID" sz="1200" dirty="0"/>
              <a:t> </a:t>
            </a:r>
            <a:r>
              <a:rPr lang="en-ID" sz="1200" dirty="0" err="1"/>
              <a:t>baik</a:t>
            </a:r>
            <a:r>
              <a:rPr lang="en-ID" sz="1200" dirty="0"/>
              <a:t>,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kenaikan</a:t>
            </a:r>
            <a:r>
              <a:rPr lang="en-ID" sz="1200" dirty="0"/>
              <a:t> </a:t>
            </a:r>
            <a:r>
              <a:rPr lang="en-ID" sz="1200" dirty="0" err="1"/>
              <a:t>akurasi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b="1" dirty="0"/>
              <a:t>74% </a:t>
            </a:r>
            <a:r>
              <a:rPr lang="en-ID" sz="1200" b="1" dirty="0" err="1"/>
              <a:t>menjadi</a:t>
            </a:r>
            <a:r>
              <a:rPr lang="en-ID" sz="1200" b="1" dirty="0"/>
              <a:t> 79%</a:t>
            </a:r>
            <a:r>
              <a:rPr lang="en-ID" sz="12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D" sz="1200" b="1" dirty="0"/>
          </a:p>
          <a:p>
            <a:pPr marL="342900" indent="-342900">
              <a:buFont typeface="+mj-lt"/>
              <a:buAutoNum type="arabicPeriod"/>
            </a:pPr>
            <a:r>
              <a:rPr lang="en-ID" sz="1200" b="1" dirty="0"/>
              <a:t>Multi-Layer Perceptron (MLP):</a:t>
            </a:r>
            <a:r>
              <a:rPr lang="en-ID" sz="1200" dirty="0"/>
              <a:t> Satu-</a:t>
            </a:r>
            <a:r>
              <a:rPr lang="en-ID" sz="1200" dirty="0" err="1"/>
              <a:t>satunya</a:t>
            </a:r>
            <a:r>
              <a:rPr lang="en-ID" sz="1200" dirty="0"/>
              <a:t> model yang </a:t>
            </a:r>
            <a:r>
              <a:rPr lang="en-ID" sz="1200" dirty="0" err="1"/>
              <a:t>mengalami</a:t>
            </a:r>
            <a:r>
              <a:rPr lang="en-ID" sz="1200" dirty="0"/>
              <a:t> </a:t>
            </a:r>
            <a:r>
              <a:rPr lang="en-ID" sz="1200" dirty="0" err="1"/>
              <a:t>penurunan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, di mana </a:t>
            </a:r>
            <a:r>
              <a:rPr lang="en-ID" sz="1200" dirty="0" err="1"/>
              <a:t>akurasi</a:t>
            </a:r>
            <a:r>
              <a:rPr lang="en-ID" sz="1200" dirty="0"/>
              <a:t> </a:t>
            </a:r>
            <a:r>
              <a:rPr lang="en-ID" sz="1200" dirty="0" err="1"/>
              <a:t>merosot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b="1" dirty="0"/>
              <a:t>86% </a:t>
            </a:r>
            <a:r>
              <a:rPr lang="en-ID" sz="1200" b="1" dirty="0" err="1"/>
              <a:t>menjadi</a:t>
            </a:r>
            <a:r>
              <a:rPr lang="en-ID" sz="1200" b="1" dirty="0"/>
              <a:t> 82%</a:t>
            </a:r>
            <a:r>
              <a:rPr lang="en-ID" sz="1200" dirty="0"/>
              <a:t> </a:t>
            </a:r>
            <a:r>
              <a:rPr lang="en-ID" sz="1200" dirty="0" err="1"/>
              <a:t>pasca</a:t>
            </a:r>
            <a:r>
              <a:rPr lang="en-ID" sz="1200" dirty="0"/>
              <a:t> </a:t>
            </a:r>
            <a:r>
              <a:rPr lang="en-ID" sz="1200" dirty="0" err="1"/>
              <a:t>tahap</a:t>
            </a:r>
            <a:r>
              <a:rPr lang="en-ID" sz="1200" dirty="0"/>
              <a:t> </a:t>
            </a:r>
            <a:r>
              <a:rPr lang="en-ID" sz="1200" i="1" dirty="0"/>
              <a:t>tuning</a:t>
            </a:r>
            <a:r>
              <a:rPr lang="en-ID" sz="12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F7E4C-63C3-7BDC-745E-929981FCA6D0}"/>
              </a:ext>
            </a:extLst>
          </p:cNvPr>
          <p:cNvSpPr txBox="1"/>
          <p:nvPr/>
        </p:nvSpPr>
        <p:spPr>
          <a:xfrm>
            <a:off x="765174" y="1274320"/>
            <a:ext cx="7359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Montserrat" panose="00000500000000000000" pitchFamily="2" charset="0"/>
              </a:rPr>
              <a:t>Kesimpulan Performa Model (</a:t>
            </a:r>
            <a:r>
              <a:rPr lang="en-ID" b="1" dirty="0" err="1">
                <a:latin typeface="Montserrat" panose="00000500000000000000" pitchFamily="2" charset="0"/>
              </a:rPr>
              <a:t>Setelah</a:t>
            </a:r>
            <a:r>
              <a:rPr lang="en-ID" b="1" dirty="0">
                <a:latin typeface="Montserrat" panose="00000500000000000000" pitchFamily="2" charset="0"/>
              </a:rPr>
              <a:t> Hyperparameter Tuning)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5CCBD2-F03E-5918-2B21-2986A5C42957}"/>
              </a:ext>
            </a:extLst>
          </p:cNvPr>
          <p:cNvSpPr txBox="1"/>
          <p:nvPr/>
        </p:nvSpPr>
        <p:spPr>
          <a:xfrm>
            <a:off x="765174" y="3771739"/>
            <a:ext cx="773536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latin typeface="Montserrat" panose="00000500000000000000" pitchFamily="2" charset="0"/>
              </a:rPr>
              <a:t>"</a:t>
            </a:r>
            <a:r>
              <a:rPr lang="en-ID" sz="1100" dirty="0" err="1">
                <a:latin typeface="Montserrat" panose="00000500000000000000" pitchFamily="2" charset="0"/>
              </a:rPr>
              <a:t>Berdasarkan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hasil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evaluasi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akhir</a:t>
            </a:r>
            <a:r>
              <a:rPr lang="en-ID" sz="1100" dirty="0">
                <a:latin typeface="Montserrat" panose="00000500000000000000" pitchFamily="2" charset="0"/>
              </a:rPr>
              <a:t>, </a:t>
            </a:r>
            <a:r>
              <a:rPr lang="en-ID" sz="1100" b="1" dirty="0">
                <a:latin typeface="Montserrat" panose="00000500000000000000" pitchFamily="2" charset="0"/>
              </a:rPr>
              <a:t>Random Forest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direkomendasikan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sebagai</a:t>
            </a:r>
            <a:r>
              <a:rPr lang="en-ID" sz="1100" dirty="0">
                <a:latin typeface="Montserrat" panose="00000500000000000000" pitchFamily="2" charset="0"/>
              </a:rPr>
              <a:t> model optimal </a:t>
            </a:r>
            <a:r>
              <a:rPr lang="en-ID" sz="1100" dirty="0" err="1">
                <a:latin typeface="Montserrat" panose="00000500000000000000" pitchFamily="2" charset="0"/>
              </a:rPr>
              <a:t>karena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memiliki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akurasi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tertinggi</a:t>
            </a:r>
            <a:r>
              <a:rPr lang="en-ID" sz="1100" dirty="0">
                <a:latin typeface="Montserrat" panose="00000500000000000000" pitchFamily="2" charset="0"/>
              </a:rPr>
              <a:t> dan </a:t>
            </a:r>
            <a:r>
              <a:rPr lang="en-ID" sz="1100" dirty="0" err="1">
                <a:latin typeface="Montserrat" panose="00000500000000000000" pitchFamily="2" charset="0"/>
              </a:rPr>
              <a:t>kemampuan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generalisasi</a:t>
            </a:r>
            <a:r>
              <a:rPr lang="en-ID" sz="1100" dirty="0">
                <a:latin typeface="Montserrat" panose="00000500000000000000" pitchFamily="2" charset="0"/>
              </a:rPr>
              <a:t> data yang paling </a:t>
            </a:r>
            <a:r>
              <a:rPr lang="en-ID" sz="1100" dirty="0" err="1">
                <a:latin typeface="Montserrat" panose="00000500000000000000" pitchFamily="2" charset="0"/>
              </a:rPr>
              <a:t>baik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setelah</a:t>
            </a:r>
            <a:r>
              <a:rPr lang="en-ID" sz="1100" dirty="0">
                <a:latin typeface="Montserrat" panose="00000500000000000000" pitchFamily="2" charset="0"/>
              </a:rPr>
              <a:t> proses </a:t>
            </a:r>
            <a:r>
              <a:rPr lang="en-ID" sz="1100" i="1" dirty="0">
                <a:latin typeface="Montserrat" panose="00000500000000000000" pitchFamily="2" charset="0"/>
              </a:rPr>
              <a:t>hyperparameter tuning</a:t>
            </a:r>
            <a:r>
              <a:rPr lang="en-ID" sz="1100" dirty="0">
                <a:latin typeface="Montserrat" panose="00000500000000000000" pitchFamily="2" charset="0"/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1429973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ADA6C8B-F92C-F25C-F7D1-B467F822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9C0B87AC-B7ED-FEAC-A4ED-D0628E255E72}"/>
              </a:ext>
            </a:extLst>
          </p:cNvPr>
          <p:cNvSpPr txBox="1">
            <a:spLocks/>
          </p:cNvSpPr>
          <p:nvPr/>
        </p:nvSpPr>
        <p:spPr>
          <a:xfrm>
            <a:off x="787400" y="1551600"/>
            <a:ext cx="5511500" cy="20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US" sz="4800" dirty="0">
                <a:solidFill>
                  <a:schemeClr val="lt1"/>
                </a:solidFill>
              </a:rPr>
              <a:t>Evaluations</a:t>
            </a:r>
          </a:p>
        </p:txBody>
      </p:sp>
    </p:spTree>
    <p:extLst>
      <p:ext uri="{BB962C8B-B14F-4D97-AF65-F5344CB8AC3E}">
        <p14:creationId xmlns:p14="http://schemas.microsoft.com/office/powerpoint/2010/main" val="20438753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CBD7877-C6A1-C1A5-5FBF-0CA3EAB7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>
            <a:extLst>
              <a:ext uri="{FF2B5EF4-FFF2-40B4-BE49-F238E27FC236}">
                <a16:creationId xmlns:a16="http://schemas.microsoft.com/office/drawing/2014/main" id="{313D24CF-62C8-080E-7BA0-4EEB3CFB2FF8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25140" y="1565191"/>
            <a:ext cx="3030825" cy="1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3600"/>
            </a:pPr>
            <a:r>
              <a:rPr lang="en-US" sz="2400" dirty="0" err="1">
                <a:solidFill>
                  <a:schemeClr val="bg1"/>
                </a:solidFill>
              </a:rPr>
              <a:t>Optimasi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1800" b="0" dirty="0">
                <a:solidFill>
                  <a:schemeClr val="bg1"/>
                </a:solidFill>
                <a:latin typeface="Poppins "/>
              </a:rPr>
              <a:t>ROC-AUC</a:t>
            </a:r>
            <a:br>
              <a:rPr lang="en-ID" dirty="0">
                <a:solidFill>
                  <a:schemeClr val="bg1"/>
                </a:solidFill>
                <a:latin typeface="Poppins "/>
              </a:rPr>
            </a:br>
            <a:endParaRPr sz="27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16BCD-AD40-2C0E-F156-06172AD4719E}"/>
              </a:ext>
            </a:extLst>
          </p:cNvPr>
          <p:cNvSpPr txBox="1"/>
          <p:nvPr/>
        </p:nvSpPr>
        <p:spPr>
          <a:xfrm>
            <a:off x="3475719" y="600958"/>
            <a:ext cx="527237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latin typeface="Montserrat" panose="00000500000000000000" pitchFamily="2" charset="0"/>
              </a:rPr>
              <a:t>Kurva ROC dan </a:t>
            </a:r>
            <a:r>
              <a:rPr lang="en-ID" sz="1100" dirty="0" err="1">
                <a:latin typeface="Montserrat" panose="00000500000000000000" pitchFamily="2" charset="0"/>
              </a:rPr>
              <a:t>skor</a:t>
            </a:r>
            <a:r>
              <a:rPr lang="en-ID" sz="1100" dirty="0">
                <a:latin typeface="Montserrat" panose="00000500000000000000" pitchFamily="2" charset="0"/>
              </a:rPr>
              <a:t> AUC </a:t>
            </a:r>
            <a:r>
              <a:rPr lang="en-ID" sz="1100" dirty="0" err="1">
                <a:latin typeface="Montserrat" panose="00000500000000000000" pitchFamily="2" charset="0"/>
              </a:rPr>
              <a:t>digunakan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untuk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mengevaluasi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kemampuan</a:t>
            </a:r>
            <a:r>
              <a:rPr lang="en-ID" sz="1100" dirty="0">
                <a:latin typeface="Montserrat" panose="00000500000000000000" pitchFamily="2" charset="0"/>
              </a:rPr>
              <a:t> model </a:t>
            </a:r>
            <a:r>
              <a:rPr lang="en-ID" sz="1100" dirty="0" err="1">
                <a:latin typeface="Montserrat" panose="00000500000000000000" pitchFamily="2" charset="0"/>
              </a:rPr>
              <a:t>dalam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membedakan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antara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pasien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sehat</a:t>
            </a:r>
            <a:r>
              <a:rPr lang="en-ID" sz="1100" dirty="0">
                <a:latin typeface="Montserrat" panose="00000500000000000000" pitchFamily="2" charset="0"/>
              </a:rPr>
              <a:t> dan </a:t>
            </a:r>
            <a:r>
              <a:rPr lang="en-ID" sz="1100" dirty="0" err="1">
                <a:latin typeface="Montserrat" panose="00000500000000000000" pitchFamily="2" charset="0"/>
              </a:rPr>
              <a:t>pasien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berisiko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jantung</a:t>
            </a:r>
            <a:r>
              <a:rPr lang="en-ID" sz="1100" dirty="0">
                <a:latin typeface="Montserrat" panose="00000500000000000000" pitchFamily="2" charset="0"/>
              </a:rPr>
              <a:t> pada </a:t>
            </a:r>
            <a:r>
              <a:rPr lang="en-ID" sz="1100" dirty="0" err="1">
                <a:latin typeface="Montserrat" panose="00000500000000000000" pitchFamily="2" charset="0"/>
              </a:rPr>
              <a:t>berbagai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tingkatan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ambang</a:t>
            </a:r>
            <a:r>
              <a:rPr lang="en-ID" sz="1100" dirty="0">
                <a:latin typeface="Montserrat" panose="00000500000000000000" pitchFamily="2" charset="0"/>
              </a:rPr>
              <a:t> batas </a:t>
            </a:r>
            <a:r>
              <a:rPr lang="en-ID" sz="1100" dirty="0" err="1">
                <a:latin typeface="Montserrat" panose="00000500000000000000" pitchFamily="2" charset="0"/>
              </a:rPr>
              <a:t>keputusan</a:t>
            </a:r>
            <a:endParaRPr lang="en-ID" sz="1100" dirty="0">
              <a:latin typeface="Montserrat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D41C92-5273-991C-E25B-DA7C62602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719" y="1441399"/>
            <a:ext cx="2676161" cy="21189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0BBE26-F1B4-2F5B-96FB-9838BFEF8EDD}"/>
              </a:ext>
            </a:extLst>
          </p:cNvPr>
          <p:cNvSpPr txBox="1"/>
          <p:nvPr/>
        </p:nvSpPr>
        <p:spPr>
          <a:xfrm>
            <a:off x="6209394" y="1353258"/>
            <a:ext cx="313469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900" b="1" dirty="0" err="1">
                <a:latin typeface="Montserrat" panose="00000500000000000000" pitchFamily="2" charset="0"/>
              </a:rPr>
              <a:t>Analisis</a:t>
            </a:r>
            <a:r>
              <a:rPr lang="en-ID" sz="900" b="1" dirty="0">
                <a:latin typeface="Montserrat" panose="00000500000000000000" pitchFamily="2" charset="0"/>
              </a:rPr>
              <a:t> Kurva ROC-AUC: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B18BC2-3120-C095-DB02-333C509CE2CE}"/>
              </a:ext>
            </a:extLst>
          </p:cNvPr>
          <p:cNvSpPr txBox="1"/>
          <p:nvPr/>
        </p:nvSpPr>
        <p:spPr>
          <a:xfrm>
            <a:off x="6255733" y="1441399"/>
            <a:ext cx="2768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D" sz="800" b="1" dirty="0"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>
                <a:latin typeface="Montserrat" panose="00000500000000000000" pitchFamily="2" charset="0"/>
              </a:rPr>
              <a:t>Performa </a:t>
            </a:r>
            <a:r>
              <a:rPr lang="en-ID" sz="800" b="1" dirty="0" err="1">
                <a:latin typeface="Montserrat" panose="00000500000000000000" pitchFamily="2" charset="0"/>
              </a:rPr>
              <a:t>Tertinggi</a:t>
            </a:r>
            <a:r>
              <a:rPr lang="en-ID" sz="800" b="1" dirty="0">
                <a:latin typeface="Montserrat" panose="00000500000000000000" pitchFamily="2" charset="0"/>
              </a:rPr>
              <a:t> (Random Forest</a:t>
            </a:r>
            <a:r>
              <a:rPr lang="en-ID" sz="800" dirty="0">
                <a:latin typeface="Montserrat" panose="00000500000000000000" pitchFamily="2" charset="0"/>
              </a:rPr>
              <a:t>): </a:t>
            </a:r>
            <a:r>
              <a:rPr lang="en-ID" sz="800" dirty="0" err="1">
                <a:latin typeface="Montserrat" panose="00000500000000000000" pitchFamily="2" charset="0"/>
              </a:rPr>
              <a:t>Mencapai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skor</a:t>
            </a:r>
            <a:r>
              <a:rPr lang="en-ID" sz="800" dirty="0">
                <a:latin typeface="Montserrat" panose="00000500000000000000" pitchFamily="2" charset="0"/>
              </a:rPr>
              <a:t> AUC 0.91, </a:t>
            </a:r>
            <a:r>
              <a:rPr lang="en-ID" sz="800" dirty="0" err="1">
                <a:latin typeface="Montserrat" panose="00000500000000000000" pitchFamily="2" charset="0"/>
              </a:rPr>
              <a:t>menunjukkan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kemampuan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klasifikasi</a:t>
            </a:r>
            <a:r>
              <a:rPr lang="en-ID" sz="800" dirty="0">
                <a:latin typeface="Montserrat" panose="00000500000000000000" pitchFamily="2" charset="0"/>
              </a:rPr>
              <a:t> yang sangat </a:t>
            </a:r>
            <a:r>
              <a:rPr lang="en-ID" sz="800" dirty="0" err="1">
                <a:latin typeface="Montserrat" panose="00000500000000000000" pitchFamily="2" charset="0"/>
              </a:rPr>
              <a:t>kuat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dalam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membedakan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pasien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sehat</a:t>
            </a:r>
            <a:r>
              <a:rPr lang="en-ID" sz="800" dirty="0">
                <a:latin typeface="Montserrat" panose="00000500000000000000" pitchFamily="2" charset="0"/>
              </a:rPr>
              <a:t> dan </a:t>
            </a:r>
            <a:r>
              <a:rPr lang="en-ID" sz="800" dirty="0" err="1">
                <a:latin typeface="Montserrat" panose="00000500000000000000" pitchFamily="2" charset="0"/>
              </a:rPr>
              <a:t>sakit</a:t>
            </a:r>
            <a:r>
              <a:rPr lang="en-ID" sz="800" dirty="0">
                <a:latin typeface="Montserrat" panose="00000500000000000000" pitchFamily="2" charset="0"/>
              </a:rPr>
              <a:t>.</a:t>
            </a:r>
          </a:p>
          <a:p>
            <a:endParaRPr lang="en-ID" sz="800" dirty="0"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800" b="1" dirty="0">
                <a:latin typeface="Montserrat" panose="00000500000000000000" pitchFamily="2" charset="0"/>
              </a:rPr>
              <a:t>Performa </a:t>
            </a:r>
            <a:r>
              <a:rPr lang="en-ID" sz="800" b="1" dirty="0" err="1">
                <a:latin typeface="Montserrat" panose="00000500000000000000" pitchFamily="2" charset="0"/>
              </a:rPr>
              <a:t>Terendah</a:t>
            </a:r>
            <a:r>
              <a:rPr lang="en-ID" sz="800" b="1" dirty="0">
                <a:latin typeface="Montserrat" panose="00000500000000000000" pitchFamily="2" charset="0"/>
              </a:rPr>
              <a:t> (Decision Tree)</a:t>
            </a:r>
            <a:r>
              <a:rPr lang="en-ID" sz="800" dirty="0">
                <a:latin typeface="Montserrat" panose="00000500000000000000" pitchFamily="2" charset="0"/>
              </a:rPr>
              <a:t>: </a:t>
            </a:r>
            <a:r>
              <a:rPr lang="en-ID" sz="800" dirty="0" err="1">
                <a:latin typeface="Montserrat" panose="00000500000000000000" pitchFamily="2" charset="0"/>
              </a:rPr>
              <a:t>Memperoleh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skor</a:t>
            </a:r>
            <a:r>
              <a:rPr lang="en-ID" sz="800" dirty="0">
                <a:latin typeface="Montserrat" panose="00000500000000000000" pitchFamily="2" charset="0"/>
              </a:rPr>
              <a:t> AUC 0.84, </a:t>
            </a:r>
            <a:r>
              <a:rPr lang="en-ID" sz="800" dirty="0" err="1">
                <a:latin typeface="Montserrat" panose="00000500000000000000" pitchFamily="2" charset="0"/>
              </a:rPr>
              <a:t>tetap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kompetitif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namun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kurang</a:t>
            </a:r>
            <a:r>
              <a:rPr lang="en-ID" sz="800" dirty="0">
                <a:latin typeface="Montserrat" panose="00000500000000000000" pitchFamily="2" charset="0"/>
              </a:rPr>
              <a:t> optimal </a:t>
            </a:r>
            <a:r>
              <a:rPr lang="en-ID" sz="800" dirty="0" err="1">
                <a:latin typeface="Montserrat" panose="00000500000000000000" pitchFamily="2" charset="0"/>
              </a:rPr>
              <a:t>dalam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menangani</a:t>
            </a:r>
            <a:r>
              <a:rPr lang="en-ID" sz="800" dirty="0">
                <a:latin typeface="Montserrat" panose="00000500000000000000" pitchFamily="2" charset="0"/>
              </a:rPr>
              <a:t> </a:t>
            </a:r>
            <a:r>
              <a:rPr lang="en-ID" sz="800" dirty="0" err="1">
                <a:latin typeface="Montserrat" panose="00000500000000000000" pitchFamily="2" charset="0"/>
              </a:rPr>
              <a:t>kompleksitas</a:t>
            </a:r>
            <a:r>
              <a:rPr lang="en-ID" sz="800" dirty="0">
                <a:latin typeface="Montserrat" panose="00000500000000000000" pitchFamily="2" charset="0"/>
              </a:rPr>
              <a:t> data </a:t>
            </a:r>
            <a:r>
              <a:rPr lang="en-ID" sz="800" dirty="0" err="1">
                <a:latin typeface="Montserrat" panose="00000500000000000000" pitchFamily="2" charset="0"/>
              </a:rPr>
              <a:t>dibandingkan</a:t>
            </a:r>
            <a:r>
              <a:rPr lang="en-ID" sz="800" dirty="0">
                <a:latin typeface="Montserrat" panose="00000500000000000000" pitchFamily="2" charset="0"/>
              </a:rPr>
              <a:t> Random Forest.</a:t>
            </a:r>
          </a:p>
          <a:p>
            <a:endParaRPr lang="en-ID" sz="800" dirty="0">
              <a:latin typeface="Montserrat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504EA6-79F7-376B-67DE-262C8B763F3B}"/>
              </a:ext>
            </a:extLst>
          </p:cNvPr>
          <p:cNvSpPr txBox="1"/>
          <p:nvPr/>
        </p:nvSpPr>
        <p:spPr>
          <a:xfrm>
            <a:off x="3480299" y="3724510"/>
            <a:ext cx="5343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900" dirty="0" err="1">
                <a:latin typeface="Montserrat" panose="00000500000000000000" pitchFamily="2" charset="0"/>
              </a:rPr>
              <a:t>Semakin</a:t>
            </a:r>
            <a:r>
              <a:rPr lang="en-ID" sz="900" dirty="0">
                <a:latin typeface="Montserrat" panose="00000500000000000000" pitchFamily="2" charset="0"/>
              </a:rPr>
              <a:t> </a:t>
            </a:r>
            <a:r>
              <a:rPr lang="en-ID" sz="900" dirty="0" err="1">
                <a:latin typeface="Montserrat" panose="00000500000000000000" pitchFamily="2" charset="0"/>
              </a:rPr>
              <a:t>kurva</a:t>
            </a:r>
            <a:r>
              <a:rPr lang="en-ID" sz="900" dirty="0">
                <a:latin typeface="Montserrat" panose="00000500000000000000" pitchFamily="2" charset="0"/>
              </a:rPr>
              <a:t> </a:t>
            </a:r>
            <a:r>
              <a:rPr lang="en-ID" sz="900" dirty="0" err="1">
                <a:latin typeface="Montserrat" panose="00000500000000000000" pitchFamily="2" charset="0"/>
              </a:rPr>
              <a:t>mendekati</a:t>
            </a:r>
            <a:r>
              <a:rPr lang="en-ID" sz="900" dirty="0">
                <a:latin typeface="Montserrat" panose="00000500000000000000" pitchFamily="2" charset="0"/>
              </a:rPr>
              <a:t> </a:t>
            </a:r>
            <a:r>
              <a:rPr lang="en-ID" sz="900" dirty="0" err="1">
                <a:latin typeface="Montserrat" panose="00000500000000000000" pitchFamily="2" charset="0"/>
              </a:rPr>
              <a:t>sudut</a:t>
            </a:r>
            <a:r>
              <a:rPr lang="en-ID" sz="900" dirty="0">
                <a:latin typeface="Montserrat" panose="00000500000000000000" pitchFamily="2" charset="0"/>
              </a:rPr>
              <a:t> kiri </a:t>
            </a:r>
            <a:r>
              <a:rPr lang="en-ID" sz="900" dirty="0" err="1">
                <a:latin typeface="Montserrat" panose="00000500000000000000" pitchFamily="2" charset="0"/>
              </a:rPr>
              <a:t>atas</a:t>
            </a:r>
            <a:r>
              <a:rPr lang="en-ID" sz="900" dirty="0">
                <a:latin typeface="Montserrat" panose="00000500000000000000" pitchFamily="2" charset="0"/>
              </a:rPr>
              <a:t> (</a:t>
            </a:r>
            <a:r>
              <a:rPr lang="en-ID" sz="900" dirty="0" err="1">
                <a:latin typeface="Montserrat" panose="00000500000000000000" pitchFamily="2" charset="0"/>
              </a:rPr>
              <a:t>skor</a:t>
            </a:r>
            <a:r>
              <a:rPr lang="en-ID" sz="900" dirty="0">
                <a:latin typeface="Montserrat" panose="00000500000000000000" pitchFamily="2" charset="0"/>
              </a:rPr>
              <a:t> 1.0), </a:t>
            </a:r>
            <a:r>
              <a:rPr lang="en-ID" sz="900" dirty="0" err="1">
                <a:latin typeface="Montserrat" panose="00000500000000000000" pitchFamily="2" charset="0"/>
              </a:rPr>
              <a:t>semakin</a:t>
            </a:r>
            <a:r>
              <a:rPr lang="en-ID" sz="900" dirty="0">
                <a:latin typeface="Montserrat" panose="00000500000000000000" pitchFamily="2" charset="0"/>
              </a:rPr>
              <a:t> </a:t>
            </a:r>
            <a:r>
              <a:rPr lang="en-ID" sz="900" dirty="0" err="1">
                <a:latin typeface="Montserrat" panose="00000500000000000000" pitchFamily="2" charset="0"/>
              </a:rPr>
              <a:t>efektif</a:t>
            </a:r>
            <a:r>
              <a:rPr lang="en-ID" sz="900" dirty="0">
                <a:latin typeface="Montserrat" panose="00000500000000000000" pitchFamily="2" charset="0"/>
              </a:rPr>
              <a:t> model </a:t>
            </a:r>
            <a:r>
              <a:rPr lang="en-ID" sz="900" dirty="0" err="1">
                <a:latin typeface="Montserrat" panose="00000500000000000000" pitchFamily="2" charset="0"/>
              </a:rPr>
              <a:t>meminimalkan</a:t>
            </a:r>
            <a:r>
              <a:rPr lang="en-ID" sz="900" dirty="0">
                <a:latin typeface="Montserrat" panose="00000500000000000000" pitchFamily="2" charset="0"/>
              </a:rPr>
              <a:t> </a:t>
            </a:r>
            <a:r>
              <a:rPr lang="en-ID" sz="900" dirty="0" err="1">
                <a:latin typeface="Montserrat" panose="00000500000000000000" pitchFamily="2" charset="0"/>
              </a:rPr>
              <a:t>kesalahan</a:t>
            </a:r>
            <a:r>
              <a:rPr lang="en-ID" sz="900" dirty="0">
                <a:latin typeface="Montserrat" panose="00000500000000000000" pitchFamily="2" charset="0"/>
              </a:rPr>
              <a:t> </a:t>
            </a:r>
            <a:r>
              <a:rPr lang="en-ID" sz="900" dirty="0" err="1">
                <a:latin typeface="Montserrat" panose="00000500000000000000" pitchFamily="2" charset="0"/>
              </a:rPr>
              <a:t>prediksi</a:t>
            </a:r>
            <a:r>
              <a:rPr lang="en-ID" sz="900" dirty="0">
                <a:latin typeface="Montserrat" panose="00000500000000000000" pitchFamily="2" charset="0"/>
              </a:rPr>
              <a:t> (</a:t>
            </a:r>
            <a:r>
              <a:rPr lang="en-ID" sz="900" i="1" dirty="0">
                <a:latin typeface="Montserrat" panose="00000500000000000000" pitchFamily="2" charset="0"/>
              </a:rPr>
              <a:t>False Positives</a:t>
            </a:r>
            <a:r>
              <a:rPr lang="en-ID" sz="900" dirty="0">
                <a:latin typeface="Montserrat" panose="00000500000000000000" pitchFamily="2" charset="0"/>
              </a:rPr>
              <a:t> &amp; </a:t>
            </a:r>
            <a:r>
              <a:rPr lang="en-ID" sz="900" i="1" dirty="0">
                <a:latin typeface="Montserrat" panose="00000500000000000000" pitchFamily="2" charset="0"/>
              </a:rPr>
              <a:t>False Negatives</a:t>
            </a:r>
            <a:r>
              <a:rPr lang="en-ID" sz="900" dirty="0">
                <a:latin typeface="Montserrat" panose="00000500000000000000" pitchFamily="2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570917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D595FC8-585B-9026-84EE-CCD11032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>
            <a:extLst>
              <a:ext uri="{FF2B5EF4-FFF2-40B4-BE49-F238E27FC236}">
                <a16:creationId xmlns:a16="http://schemas.microsoft.com/office/drawing/2014/main" id="{695B0D41-9BBB-24F8-E9B8-D7799715A96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34139" y="1249675"/>
            <a:ext cx="3030825" cy="1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3600"/>
            </a:pPr>
            <a:r>
              <a:rPr lang="en-US" sz="2400" dirty="0" err="1">
                <a:solidFill>
                  <a:schemeClr val="bg1"/>
                </a:solidFill>
              </a:rPr>
              <a:t>Optimasi</a:t>
            </a:r>
            <a:r>
              <a:rPr lang="en-US" sz="2400" dirty="0">
                <a:solidFill>
                  <a:schemeClr val="bg1"/>
                </a:solidFill>
              </a:rPr>
              <a:t>:</a:t>
            </a:r>
            <a:endParaRPr sz="27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9F82E-634E-84D8-B4E9-CB3D0198A896}"/>
              </a:ext>
            </a:extLst>
          </p:cNvPr>
          <p:cNvSpPr txBox="1"/>
          <p:nvPr/>
        </p:nvSpPr>
        <p:spPr>
          <a:xfrm>
            <a:off x="134139" y="2176562"/>
            <a:ext cx="24249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Threshold </a:t>
            </a:r>
            <a:r>
              <a:rPr lang="en-US" sz="1400" dirty="0" err="1">
                <a:solidFill>
                  <a:schemeClr val="bg1"/>
                </a:solidFill>
              </a:rPr>
              <a:t>dengan</a:t>
            </a:r>
            <a:r>
              <a:rPr lang="en-US" sz="1400" dirty="0">
                <a:solidFill>
                  <a:schemeClr val="bg1"/>
                </a:solidFill>
              </a:rPr>
              <a:t> Youden’s Index</a:t>
            </a:r>
            <a:endParaRPr lang="en-ID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09C9B-9A34-16B1-45E2-75BBBD3DFB26}"/>
              </a:ext>
            </a:extLst>
          </p:cNvPr>
          <p:cNvSpPr txBox="1"/>
          <p:nvPr/>
        </p:nvSpPr>
        <p:spPr>
          <a:xfrm>
            <a:off x="3655693" y="1482960"/>
            <a:ext cx="79565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>
                <a:latin typeface="Montserrat" panose="00000500000000000000" pitchFamily="2" charset="0"/>
              </a:rPr>
              <a:t>Rumus</a:t>
            </a:r>
            <a:r>
              <a:rPr lang="en-US" sz="1050" dirty="0">
                <a:latin typeface="Montserrat" panose="00000500000000000000" pitchFamily="2" charset="0"/>
              </a:rPr>
              <a:t> :</a:t>
            </a:r>
          </a:p>
          <a:p>
            <a:endParaRPr lang="en-ID" sz="1050" dirty="0">
              <a:latin typeface="Montserrat" panose="00000500000000000000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15E9DC-ED90-DC1C-8AA0-A27459587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693" y="688020"/>
            <a:ext cx="4992371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Youden’s Index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adalah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metrik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statistik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digunakan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untuk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menentukan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titik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potong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(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threshold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) optimal pada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kurva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ROC guna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memaksimalkan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selisih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antara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True Positive Rate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Sensitivitas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) dan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False Positive Rate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BC33C9-ECA5-BB9C-5CEB-BDA39C31B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657" y="1970123"/>
            <a:ext cx="4372442" cy="3238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C272D9-BFD5-A4B9-81BC-CD164A7A0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657" y="2571750"/>
            <a:ext cx="4372442" cy="5472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F2FA32-1026-90A8-BE0A-E89B4F868D7D}"/>
              </a:ext>
            </a:extLst>
          </p:cNvPr>
          <p:cNvSpPr txBox="1"/>
          <p:nvPr/>
        </p:nvSpPr>
        <p:spPr>
          <a:xfrm>
            <a:off x="3655693" y="3245043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TP : Nilai </a:t>
            </a:r>
            <a:r>
              <a:rPr lang="en-US" sz="1050" b="0" i="0" dirty="0" err="1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Positif</a:t>
            </a:r>
            <a:r>
              <a:rPr lang="en-US" sz="1050" b="0" i="0" dirty="0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lang="en-US" sz="1050" dirty="0" err="1">
                <a:solidFill>
                  <a:srgbClr val="202122"/>
                </a:solidFill>
                <a:latin typeface="Montserrat" panose="00000500000000000000" pitchFamily="2" charset="0"/>
              </a:rPr>
              <a:t>D</a:t>
            </a:r>
            <a:r>
              <a:rPr lang="en-US" sz="1050" b="0" i="0" dirty="0" err="1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iprediksi</a:t>
            </a:r>
            <a:r>
              <a:rPr lang="en-US" sz="1050" b="0" i="0" dirty="0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1050" b="0" i="0" dirty="0" err="1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Positif</a:t>
            </a:r>
            <a:r>
              <a:rPr lang="en-US" sz="1050" b="0" i="0" dirty="0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TN </a:t>
            </a:r>
            <a:r>
              <a:rPr lang="en-US" sz="1050" dirty="0">
                <a:solidFill>
                  <a:srgbClr val="202122"/>
                </a:solidFill>
                <a:latin typeface="Montserrat" panose="00000500000000000000" pitchFamily="2" charset="0"/>
              </a:rPr>
              <a:t>: Nilai </a:t>
            </a:r>
            <a:r>
              <a:rPr lang="en-US" sz="1050" dirty="0" err="1">
                <a:solidFill>
                  <a:srgbClr val="202122"/>
                </a:solidFill>
                <a:latin typeface="Montserrat" panose="00000500000000000000" pitchFamily="2" charset="0"/>
              </a:rPr>
              <a:t>Negatif</a:t>
            </a:r>
            <a:r>
              <a:rPr lang="en-US" sz="1050" dirty="0">
                <a:solidFill>
                  <a:srgbClr val="202122"/>
                </a:solidFill>
                <a:latin typeface="Montserrat" panose="00000500000000000000" pitchFamily="2" charset="0"/>
              </a:rPr>
              <a:t> yang </a:t>
            </a:r>
            <a:r>
              <a:rPr lang="en-US" sz="1050" dirty="0" err="1">
                <a:solidFill>
                  <a:srgbClr val="202122"/>
                </a:solidFill>
                <a:latin typeface="Montserrat" panose="00000500000000000000" pitchFamily="2" charset="0"/>
              </a:rPr>
              <a:t>Diprediksi</a:t>
            </a:r>
            <a:r>
              <a:rPr lang="en-US" sz="1050" dirty="0">
                <a:solidFill>
                  <a:srgbClr val="202122"/>
                </a:solidFill>
                <a:latin typeface="Montserrat" panose="00000500000000000000" pitchFamily="2" charset="0"/>
              </a:rPr>
              <a:t> </a:t>
            </a:r>
            <a:r>
              <a:rPr lang="en-US" sz="1050" dirty="0" err="1">
                <a:solidFill>
                  <a:srgbClr val="202122"/>
                </a:solidFill>
                <a:latin typeface="Montserrat" panose="00000500000000000000" pitchFamily="2" charset="0"/>
              </a:rPr>
              <a:t>Negatif</a:t>
            </a:r>
            <a:r>
              <a:rPr lang="en-US" sz="1050" b="0" i="0" dirty="0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FP </a:t>
            </a:r>
            <a:r>
              <a:rPr lang="en-US" sz="1050" dirty="0">
                <a:solidFill>
                  <a:srgbClr val="202122"/>
                </a:solidFill>
                <a:latin typeface="Montserrat" panose="00000500000000000000" pitchFamily="2" charset="0"/>
              </a:rPr>
              <a:t>: Nilai </a:t>
            </a:r>
            <a:r>
              <a:rPr lang="en-US" sz="1050" dirty="0" err="1">
                <a:solidFill>
                  <a:srgbClr val="202122"/>
                </a:solidFill>
                <a:latin typeface="Montserrat" panose="00000500000000000000" pitchFamily="2" charset="0"/>
              </a:rPr>
              <a:t>Negatif</a:t>
            </a:r>
            <a:r>
              <a:rPr lang="en-US" sz="1050" dirty="0">
                <a:solidFill>
                  <a:srgbClr val="202122"/>
                </a:solidFill>
                <a:latin typeface="Montserrat" panose="00000500000000000000" pitchFamily="2" charset="0"/>
              </a:rPr>
              <a:t> yang </a:t>
            </a:r>
            <a:r>
              <a:rPr lang="en-US" sz="1050" dirty="0" err="1">
                <a:solidFill>
                  <a:srgbClr val="202122"/>
                </a:solidFill>
                <a:latin typeface="Montserrat" panose="00000500000000000000" pitchFamily="2" charset="0"/>
              </a:rPr>
              <a:t>Diprediksi</a:t>
            </a:r>
            <a:r>
              <a:rPr lang="en-US" sz="1050" dirty="0">
                <a:solidFill>
                  <a:srgbClr val="202122"/>
                </a:solidFill>
                <a:latin typeface="Montserrat" panose="00000500000000000000" pitchFamily="2" charset="0"/>
              </a:rPr>
              <a:t> </a:t>
            </a:r>
            <a:r>
              <a:rPr lang="en-US" sz="1050" dirty="0" err="1">
                <a:solidFill>
                  <a:srgbClr val="202122"/>
                </a:solidFill>
                <a:latin typeface="Montserrat" panose="00000500000000000000" pitchFamily="2" charset="0"/>
              </a:rPr>
              <a:t>Positif</a:t>
            </a:r>
            <a:endParaRPr lang="en-US" sz="1050" b="0" i="0" dirty="0">
              <a:solidFill>
                <a:srgbClr val="202122"/>
              </a:solidFill>
              <a:effectLst/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FN</a:t>
            </a:r>
            <a:r>
              <a:rPr lang="en-US" sz="1050" dirty="0">
                <a:solidFill>
                  <a:srgbClr val="202122"/>
                </a:solidFill>
                <a:latin typeface="Montserrat" panose="00000500000000000000" pitchFamily="2" charset="0"/>
              </a:rPr>
              <a:t> : Nilai </a:t>
            </a:r>
            <a:r>
              <a:rPr lang="en-US" sz="1050" dirty="0" err="1">
                <a:solidFill>
                  <a:srgbClr val="202122"/>
                </a:solidFill>
                <a:latin typeface="Montserrat" panose="00000500000000000000" pitchFamily="2" charset="0"/>
              </a:rPr>
              <a:t>Positif</a:t>
            </a:r>
            <a:r>
              <a:rPr lang="en-US" sz="1050" dirty="0">
                <a:solidFill>
                  <a:srgbClr val="202122"/>
                </a:solidFill>
                <a:latin typeface="Montserrat" panose="00000500000000000000" pitchFamily="2" charset="0"/>
              </a:rPr>
              <a:t> yang </a:t>
            </a:r>
            <a:r>
              <a:rPr lang="en-US" sz="1050" dirty="0" err="1">
                <a:solidFill>
                  <a:srgbClr val="202122"/>
                </a:solidFill>
                <a:latin typeface="Montserrat" panose="00000500000000000000" pitchFamily="2" charset="0"/>
              </a:rPr>
              <a:t>Diprediksi</a:t>
            </a:r>
            <a:r>
              <a:rPr lang="en-US" sz="1050" dirty="0">
                <a:solidFill>
                  <a:srgbClr val="202122"/>
                </a:solidFill>
                <a:latin typeface="Montserrat" panose="00000500000000000000" pitchFamily="2" charset="0"/>
              </a:rPr>
              <a:t> </a:t>
            </a:r>
            <a:r>
              <a:rPr lang="en-US" sz="1050" dirty="0" err="1">
                <a:solidFill>
                  <a:srgbClr val="202122"/>
                </a:solidFill>
                <a:latin typeface="Montserrat" panose="00000500000000000000" pitchFamily="2" charset="0"/>
              </a:rPr>
              <a:t>Negatif</a:t>
            </a:r>
            <a:r>
              <a:rPr lang="en-US" sz="1050" b="0" i="0" dirty="0">
                <a:solidFill>
                  <a:srgbClr val="202122"/>
                </a:solidFill>
                <a:effectLst/>
                <a:latin typeface="Montserrat" panose="00000500000000000000" pitchFamily="2" charset="0"/>
              </a:rPr>
              <a:t>.</a:t>
            </a:r>
            <a:endParaRPr lang="en-ID" sz="105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05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0D76FC7-3D5B-959F-703C-36F9D811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9BF6DE9E-9E9F-4F5B-446F-30DD74E4034A}"/>
              </a:ext>
            </a:extLst>
          </p:cNvPr>
          <p:cNvSpPr txBox="1">
            <a:spLocks/>
          </p:cNvSpPr>
          <p:nvPr/>
        </p:nvSpPr>
        <p:spPr>
          <a:xfrm>
            <a:off x="1134531" y="177363"/>
            <a:ext cx="6620936" cy="13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sz="3200" dirty="0"/>
              <a:t>Best Model</a:t>
            </a:r>
            <a:endParaRPr lang="en-ID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A4AB9-DF64-D3DD-67A2-A961B41E2DFF}"/>
              </a:ext>
            </a:extLst>
          </p:cNvPr>
          <p:cNvSpPr txBox="1"/>
          <p:nvPr/>
        </p:nvSpPr>
        <p:spPr>
          <a:xfrm>
            <a:off x="933450" y="1405910"/>
            <a:ext cx="7277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Montserrat" panose="00000500000000000000" pitchFamily="2" charset="0"/>
              </a:rPr>
              <a:t>Model </a:t>
            </a:r>
            <a:r>
              <a:rPr lang="en-US" sz="1200" dirty="0" err="1">
                <a:latin typeface="Montserrat" panose="00000500000000000000" pitchFamily="2" charset="0"/>
              </a:rPr>
              <a:t>akan</a:t>
            </a:r>
            <a:r>
              <a:rPr lang="en-US" sz="1200" dirty="0">
                <a:latin typeface="Montserrat" panose="00000500000000000000" pitchFamily="2" charset="0"/>
              </a:rPr>
              <a:t> di </a:t>
            </a:r>
            <a:r>
              <a:rPr lang="en-US" sz="1200" dirty="0" err="1">
                <a:latin typeface="Montserrat" panose="00000500000000000000" pitchFamily="2" charset="0"/>
              </a:rPr>
              <a:t>evaluasi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berdasarkan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nilai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Akurasi</a:t>
            </a:r>
            <a:r>
              <a:rPr lang="en-US" sz="1200" dirty="0">
                <a:latin typeface="Montserrat" panose="00000500000000000000" pitchFamily="2" charset="0"/>
              </a:rPr>
              <a:t>, ROC-AUC, dan Threshold yang </a:t>
            </a:r>
            <a:r>
              <a:rPr lang="en-US" sz="1200" dirty="0" err="1">
                <a:latin typeface="Montserrat" panose="00000500000000000000" pitchFamily="2" charset="0"/>
              </a:rPr>
              <a:t>sesuai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dengan</a:t>
            </a:r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dirty="0" err="1">
                <a:latin typeface="Montserrat" panose="00000500000000000000" pitchFamily="2" charset="0"/>
              </a:rPr>
              <a:t>kebutuhan</a:t>
            </a:r>
            <a:r>
              <a:rPr lang="en-US" sz="1200" dirty="0">
                <a:latin typeface="Montserrat" panose="00000500000000000000" pitchFamily="2" charset="0"/>
              </a:rPr>
              <a:t>. </a:t>
            </a:r>
            <a:endParaRPr lang="en-ID" sz="1200" dirty="0">
              <a:latin typeface="Montserrat" panose="00000500000000000000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5F459C-AA56-13BA-1F76-B9ABEE5BE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711253"/>
              </p:ext>
            </p:extLst>
          </p:nvPr>
        </p:nvGraphicFramePr>
        <p:xfrm>
          <a:off x="933450" y="2070100"/>
          <a:ext cx="7277100" cy="18542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93700">
                  <a:extLst>
                    <a:ext uri="{9D8B030D-6E8A-4147-A177-3AD203B41FA5}">
                      <a16:colId xmlns:a16="http://schemas.microsoft.com/office/drawing/2014/main" val="4143208703"/>
                    </a:ext>
                  </a:extLst>
                </a:gridCol>
                <a:gridCol w="2517140">
                  <a:extLst>
                    <a:ext uri="{9D8B030D-6E8A-4147-A177-3AD203B41FA5}">
                      <a16:colId xmlns:a16="http://schemas.microsoft.com/office/drawing/2014/main" val="1634645692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1620926601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1145121416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1640576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554C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en-ID" dirty="0"/>
                    </a:p>
                  </a:txBody>
                  <a:tcPr anchor="ctr">
                    <a:solidFill>
                      <a:srgbClr val="554C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  <a:endParaRPr lang="en-ID" dirty="0"/>
                    </a:p>
                  </a:txBody>
                  <a:tcPr anchor="ctr">
                    <a:solidFill>
                      <a:srgbClr val="554C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ROC-AUC</a:t>
                      </a:r>
                      <a:endParaRPr lang="en-ID" dirty="0"/>
                    </a:p>
                  </a:txBody>
                  <a:tcPr anchor="ctr">
                    <a:solidFill>
                      <a:srgbClr val="554C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Threshold</a:t>
                      </a:r>
                      <a:endParaRPr lang="en-ID" dirty="0"/>
                    </a:p>
                  </a:txBody>
                  <a:tcPr anchor="ctr">
                    <a:solidFill>
                      <a:srgbClr val="554C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09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Montserrat" panose="00000500000000000000" pitchFamily="2" charset="0"/>
                        </a:rPr>
                        <a:t>1.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Montserrat" panose="00000500000000000000" pitchFamily="2" charset="0"/>
                        </a:rPr>
                        <a:t>Logistic Regression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0.84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0.88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0.427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22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Montserrat" panose="00000500000000000000" pitchFamily="2" charset="0"/>
                        </a:rPr>
                        <a:t>2.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Montserrat" panose="00000500000000000000" pitchFamily="2" charset="0"/>
                        </a:rPr>
                        <a:t>Random Forest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0.86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0.9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0.53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77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Montserrat" panose="00000500000000000000" pitchFamily="2" charset="0"/>
                        </a:rPr>
                        <a:t>3.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Montserrat" panose="00000500000000000000" pitchFamily="2" charset="0"/>
                        </a:rPr>
                        <a:t>Decision Tree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0.79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0.84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0.608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349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Montserrat" panose="00000500000000000000" pitchFamily="2" charset="0"/>
                        </a:rPr>
                        <a:t>4.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Montserrat" panose="00000500000000000000" pitchFamily="2" charset="0"/>
                        </a:rPr>
                        <a:t>MLP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0.82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0.88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Montserrat" panose="00000500000000000000" pitchFamily="2" charset="0"/>
                        </a:rPr>
                        <a:t>0.587</a:t>
                      </a:r>
                      <a:endParaRPr lang="en-ID" sz="11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176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316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79A7512-FCD0-7F0B-8BED-5A34E265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12C4820A-EBF1-2D98-C7BF-39D2BC95BF96}"/>
              </a:ext>
            </a:extLst>
          </p:cNvPr>
          <p:cNvSpPr txBox="1">
            <a:spLocks/>
          </p:cNvSpPr>
          <p:nvPr/>
        </p:nvSpPr>
        <p:spPr>
          <a:xfrm>
            <a:off x="774700" y="601677"/>
            <a:ext cx="2264306" cy="70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dirty="0"/>
              <a:t>Conclusion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6AC602-6E86-73F5-59EA-2C3DE7E41C7B}"/>
              </a:ext>
            </a:extLst>
          </p:cNvPr>
          <p:cNvSpPr txBox="1"/>
          <p:nvPr/>
        </p:nvSpPr>
        <p:spPr>
          <a:xfrm>
            <a:off x="774700" y="3869180"/>
            <a:ext cx="735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b="1" dirty="0">
                <a:latin typeface="Montserrat" panose="00000500000000000000" pitchFamily="2" charset="0"/>
              </a:rPr>
              <a:t>Decision Tree: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Merupakan</a:t>
            </a:r>
            <a:r>
              <a:rPr lang="en-ID" sz="1200" dirty="0">
                <a:latin typeface="Montserrat" panose="00000500000000000000" pitchFamily="2" charset="0"/>
              </a:rPr>
              <a:t> model </a:t>
            </a:r>
            <a:r>
              <a:rPr lang="en-ID" sz="1200" dirty="0" err="1">
                <a:latin typeface="Montserrat" panose="00000500000000000000" pitchFamily="2" charset="0"/>
              </a:rPr>
              <a:t>dengan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performa</a:t>
            </a:r>
            <a:r>
              <a:rPr lang="en-ID" sz="1200" dirty="0">
                <a:latin typeface="Montserrat" panose="00000500000000000000" pitchFamily="2" charset="0"/>
              </a:rPr>
              <a:t> paling </a:t>
            </a:r>
            <a:r>
              <a:rPr lang="en-ID" sz="1200" dirty="0" err="1">
                <a:latin typeface="Montserrat" panose="00000500000000000000" pitchFamily="2" charset="0"/>
              </a:rPr>
              <a:t>rendah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dalam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pengujian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ini</a:t>
            </a:r>
            <a:r>
              <a:rPr lang="en-ID" sz="1200" dirty="0">
                <a:latin typeface="Montserrat" panose="00000500000000000000" pitchFamily="2" charset="0"/>
              </a:rPr>
              <a:t>, </a:t>
            </a:r>
            <a:r>
              <a:rPr lang="en-ID" sz="1200" dirty="0" err="1">
                <a:latin typeface="Montserrat" panose="00000500000000000000" pitchFamily="2" charset="0"/>
              </a:rPr>
              <a:t>mencatatkan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b="1" dirty="0" err="1">
                <a:latin typeface="Montserrat" panose="00000500000000000000" pitchFamily="2" charset="0"/>
              </a:rPr>
              <a:t>Akurasi</a:t>
            </a:r>
            <a:r>
              <a:rPr lang="en-ID" sz="1200" b="1" dirty="0">
                <a:latin typeface="Montserrat" panose="00000500000000000000" pitchFamily="2" charset="0"/>
              </a:rPr>
              <a:t> 0.79</a:t>
            </a:r>
            <a:r>
              <a:rPr lang="en-ID" sz="1200" dirty="0">
                <a:latin typeface="Montserrat" panose="00000500000000000000" pitchFamily="2" charset="0"/>
              </a:rPr>
              <a:t> dan </a:t>
            </a:r>
            <a:r>
              <a:rPr lang="en-ID" sz="1200" b="1" dirty="0">
                <a:latin typeface="Montserrat" panose="00000500000000000000" pitchFamily="2" charset="0"/>
              </a:rPr>
              <a:t>ROC-AUC 0.84</a:t>
            </a:r>
            <a:r>
              <a:rPr lang="en-ID" sz="12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D9E8C-CB3C-2385-04EC-3265CD6452C2}"/>
              </a:ext>
            </a:extLst>
          </p:cNvPr>
          <p:cNvSpPr txBox="1"/>
          <p:nvPr/>
        </p:nvSpPr>
        <p:spPr>
          <a:xfrm>
            <a:off x="765174" y="1307249"/>
            <a:ext cx="73596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dirty="0"/>
              <a:t>Kesimpulan Performa Model </a:t>
            </a:r>
            <a:r>
              <a:rPr lang="en-ID" sz="1600" b="1" dirty="0" err="1"/>
              <a:t>Terbaik</a:t>
            </a:r>
            <a:endParaRPr lang="en-ID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754B66-593F-5303-D08D-CD974925879F}"/>
              </a:ext>
            </a:extLst>
          </p:cNvPr>
          <p:cNvSpPr txBox="1"/>
          <p:nvPr/>
        </p:nvSpPr>
        <p:spPr>
          <a:xfrm>
            <a:off x="765174" y="1793775"/>
            <a:ext cx="73501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b="1" dirty="0">
                <a:latin typeface="Montserrat" panose="00000500000000000000" pitchFamily="2" charset="0"/>
              </a:rPr>
              <a:t>Random Forest (</a:t>
            </a:r>
            <a:r>
              <a:rPr lang="en-ID" sz="1200" b="1" dirty="0" err="1">
                <a:latin typeface="Montserrat" panose="00000500000000000000" pitchFamily="2" charset="0"/>
              </a:rPr>
              <a:t>Pemenang</a:t>
            </a:r>
            <a:r>
              <a:rPr lang="en-ID" sz="1200" b="1" dirty="0">
                <a:latin typeface="Montserrat" panose="00000500000000000000" pitchFamily="2" charset="0"/>
              </a:rPr>
              <a:t> </a:t>
            </a:r>
            <a:r>
              <a:rPr lang="en-ID" sz="1200" b="1" dirty="0" err="1">
                <a:latin typeface="Montserrat" panose="00000500000000000000" pitchFamily="2" charset="0"/>
              </a:rPr>
              <a:t>Keseluruhan</a:t>
            </a:r>
            <a:r>
              <a:rPr lang="en-ID" sz="1200" b="1" dirty="0">
                <a:latin typeface="Montserrat" panose="00000500000000000000" pitchFamily="2" charset="0"/>
              </a:rPr>
              <a:t>):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Menjadi</a:t>
            </a:r>
            <a:r>
              <a:rPr lang="en-ID" sz="1200" dirty="0">
                <a:latin typeface="Montserrat" panose="00000500000000000000" pitchFamily="2" charset="0"/>
              </a:rPr>
              <a:t> model paling optimal </a:t>
            </a:r>
            <a:r>
              <a:rPr lang="en-ID" sz="1200" dirty="0" err="1">
                <a:latin typeface="Montserrat" panose="00000500000000000000" pitchFamily="2" charset="0"/>
              </a:rPr>
              <a:t>dengan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b="1" dirty="0" err="1">
                <a:latin typeface="Montserrat" panose="00000500000000000000" pitchFamily="2" charset="0"/>
              </a:rPr>
              <a:t>Akurasi</a:t>
            </a:r>
            <a:r>
              <a:rPr lang="en-ID" sz="1200" b="1" dirty="0">
                <a:latin typeface="Montserrat" panose="00000500000000000000" pitchFamily="2" charset="0"/>
              </a:rPr>
              <a:t> 0.86</a:t>
            </a:r>
            <a:r>
              <a:rPr lang="en-ID" sz="1200" dirty="0">
                <a:latin typeface="Montserrat" panose="00000500000000000000" pitchFamily="2" charset="0"/>
              </a:rPr>
              <a:t> dan </a:t>
            </a:r>
            <a:r>
              <a:rPr lang="en-ID" sz="1200" dirty="0" err="1">
                <a:latin typeface="Montserrat" panose="00000500000000000000" pitchFamily="2" charset="0"/>
              </a:rPr>
              <a:t>skor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b="1" dirty="0">
                <a:latin typeface="Montserrat" panose="00000500000000000000" pitchFamily="2" charset="0"/>
              </a:rPr>
              <a:t>ROC-AUC </a:t>
            </a:r>
            <a:r>
              <a:rPr lang="en-ID" sz="1200" b="1" dirty="0" err="1">
                <a:latin typeface="Montserrat" panose="00000500000000000000" pitchFamily="2" charset="0"/>
              </a:rPr>
              <a:t>tertinggi</a:t>
            </a:r>
            <a:r>
              <a:rPr lang="en-ID" sz="1200" b="1" dirty="0">
                <a:latin typeface="Montserrat" panose="00000500000000000000" pitchFamily="2" charset="0"/>
              </a:rPr>
              <a:t> </a:t>
            </a:r>
            <a:r>
              <a:rPr lang="en-ID" sz="1200" b="1" dirty="0" err="1">
                <a:latin typeface="Montserrat" panose="00000500000000000000" pitchFamily="2" charset="0"/>
              </a:rPr>
              <a:t>sebesar</a:t>
            </a:r>
            <a:r>
              <a:rPr lang="en-ID" sz="1200" b="1" dirty="0">
                <a:latin typeface="Montserrat" panose="00000500000000000000" pitchFamily="2" charset="0"/>
              </a:rPr>
              <a:t> 0.9</a:t>
            </a:r>
            <a:r>
              <a:rPr lang="en-ID" sz="1200" dirty="0">
                <a:latin typeface="Montserrat" panose="00000500000000000000" pitchFamily="2" charset="0"/>
              </a:rPr>
              <a:t>. Model </a:t>
            </a:r>
            <a:r>
              <a:rPr lang="en-ID" sz="1200" dirty="0" err="1">
                <a:latin typeface="Montserrat" panose="00000500000000000000" pitchFamily="2" charset="0"/>
              </a:rPr>
              <a:t>ini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menunjukkan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kombinasi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terbaik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antara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ketepatan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prediksi</a:t>
            </a:r>
            <a:r>
              <a:rPr lang="en-ID" sz="1200" dirty="0">
                <a:latin typeface="Montserrat" panose="00000500000000000000" pitchFamily="2" charset="0"/>
              </a:rPr>
              <a:t> dan </a:t>
            </a:r>
            <a:r>
              <a:rPr lang="en-ID" sz="1200" dirty="0" err="1">
                <a:latin typeface="Montserrat" panose="00000500000000000000" pitchFamily="2" charset="0"/>
              </a:rPr>
              <a:t>kemampuan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membedakan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kelas</a:t>
            </a:r>
            <a:r>
              <a:rPr lang="en-ID" sz="1200" dirty="0">
                <a:latin typeface="Montserrat" panose="00000500000000000000" pitchFamily="2" charset="0"/>
              </a:rPr>
              <a:t> target.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C6796-E09E-27EA-9683-ED7C9280A7CB}"/>
              </a:ext>
            </a:extLst>
          </p:cNvPr>
          <p:cNvSpPr txBox="1"/>
          <p:nvPr/>
        </p:nvSpPr>
        <p:spPr>
          <a:xfrm>
            <a:off x="774700" y="2547132"/>
            <a:ext cx="7359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b="1" dirty="0">
                <a:latin typeface="Montserrat" panose="00000500000000000000" pitchFamily="2" charset="0"/>
              </a:rPr>
              <a:t>Logistic Regression:</a:t>
            </a:r>
            <a:r>
              <a:rPr lang="en-ID" sz="1200" dirty="0">
                <a:latin typeface="Montserrat" panose="00000500000000000000" pitchFamily="2" charset="0"/>
              </a:rPr>
              <a:t> Menampilkan </a:t>
            </a:r>
            <a:r>
              <a:rPr lang="en-ID" sz="1200" dirty="0" err="1">
                <a:latin typeface="Montserrat" panose="00000500000000000000" pitchFamily="2" charset="0"/>
              </a:rPr>
              <a:t>performa</a:t>
            </a:r>
            <a:r>
              <a:rPr lang="en-ID" sz="1200" dirty="0">
                <a:latin typeface="Montserrat" panose="00000500000000000000" pitchFamily="2" charset="0"/>
              </a:rPr>
              <a:t> yang sangat </a:t>
            </a:r>
            <a:r>
              <a:rPr lang="en-ID" sz="1200" dirty="0" err="1">
                <a:latin typeface="Montserrat" panose="00000500000000000000" pitchFamily="2" charset="0"/>
              </a:rPr>
              <a:t>kompetitif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dengan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b="1" dirty="0" err="1">
                <a:latin typeface="Montserrat" panose="00000500000000000000" pitchFamily="2" charset="0"/>
              </a:rPr>
              <a:t>Akurasi</a:t>
            </a:r>
            <a:r>
              <a:rPr lang="en-ID" sz="1200" b="1" dirty="0">
                <a:latin typeface="Montserrat" panose="00000500000000000000" pitchFamily="2" charset="0"/>
              </a:rPr>
              <a:t> 0.84</a:t>
            </a:r>
            <a:r>
              <a:rPr lang="en-ID" sz="1200" dirty="0">
                <a:latin typeface="Montserrat" panose="00000500000000000000" pitchFamily="2" charset="0"/>
              </a:rPr>
              <a:t> dan </a:t>
            </a:r>
            <a:r>
              <a:rPr lang="en-ID" sz="1200" b="1" dirty="0">
                <a:latin typeface="Montserrat" panose="00000500000000000000" pitchFamily="2" charset="0"/>
              </a:rPr>
              <a:t>ROC-AUC 0.88</a:t>
            </a:r>
            <a:r>
              <a:rPr lang="en-ID" sz="1200" dirty="0">
                <a:latin typeface="Montserrat" panose="00000500000000000000" pitchFamily="2" charset="0"/>
              </a:rPr>
              <a:t>. Model </a:t>
            </a:r>
            <a:r>
              <a:rPr lang="en-ID" sz="1200" dirty="0" err="1">
                <a:latin typeface="Montserrat" panose="00000500000000000000" pitchFamily="2" charset="0"/>
              </a:rPr>
              <a:t>ini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bekerja</a:t>
            </a:r>
            <a:r>
              <a:rPr lang="en-ID" sz="1200" dirty="0">
                <a:latin typeface="Montserrat" panose="00000500000000000000" pitchFamily="2" charset="0"/>
              </a:rPr>
              <a:t> paling </a:t>
            </a:r>
            <a:r>
              <a:rPr lang="en-ID" sz="1200" dirty="0" err="1">
                <a:latin typeface="Montserrat" panose="00000500000000000000" pitchFamily="2" charset="0"/>
              </a:rPr>
              <a:t>sensitif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dengan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ambang</a:t>
            </a:r>
            <a:r>
              <a:rPr lang="en-ID" sz="1200" dirty="0">
                <a:latin typeface="Montserrat" panose="00000500000000000000" pitchFamily="2" charset="0"/>
              </a:rPr>
              <a:t> batas (</a:t>
            </a:r>
            <a:r>
              <a:rPr lang="en-ID" sz="1200" i="1" dirty="0">
                <a:latin typeface="Montserrat" panose="00000500000000000000" pitchFamily="2" charset="0"/>
              </a:rPr>
              <a:t>threshold</a:t>
            </a:r>
            <a:r>
              <a:rPr lang="en-ID" sz="1200" dirty="0">
                <a:latin typeface="Montserrat" panose="00000500000000000000" pitchFamily="2" charset="0"/>
              </a:rPr>
              <a:t>) </a:t>
            </a:r>
            <a:r>
              <a:rPr lang="en-ID" sz="1200" dirty="0" err="1">
                <a:latin typeface="Montserrat" panose="00000500000000000000" pitchFamily="2" charset="0"/>
              </a:rPr>
              <a:t>terendah</a:t>
            </a:r>
            <a:r>
              <a:rPr lang="en-ID" sz="1200" dirty="0">
                <a:latin typeface="Montserrat" panose="00000500000000000000" pitchFamily="2" charset="0"/>
              </a:rPr>
              <a:t> di </a:t>
            </a:r>
            <a:r>
              <a:rPr lang="en-ID" sz="1200" dirty="0" err="1">
                <a:latin typeface="Montserrat" panose="00000500000000000000" pitchFamily="2" charset="0"/>
              </a:rPr>
              <a:t>angka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b="1" dirty="0">
                <a:latin typeface="Montserrat" panose="00000500000000000000" pitchFamily="2" charset="0"/>
              </a:rPr>
              <a:t>0.427</a:t>
            </a:r>
            <a:r>
              <a:rPr lang="en-ID" sz="12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612EB-AC6F-4A06-3009-AFC4EB27163C}"/>
              </a:ext>
            </a:extLst>
          </p:cNvPr>
          <p:cNvSpPr txBox="1"/>
          <p:nvPr/>
        </p:nvSpPr>
        <p:spPr>
          <a:xfrm>
            <a:off x="774700" y="3300489"/>
            <a:ext cx="735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b="1" dirty="0">
                <a:latin typeface="Montserrat" panose="00000500000000000000" pitchFamily="2" charset="0"/>
              </a:rPr>
              <a:t>MLP (Neural Network):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Berada</a:t>
            </a:r>
            <a:r>
              <a:rPr lang="en-ID" sz="1200" dirty="0">
                <a:latin typeface="Montserrat" panose="00000500000000000000" pitchFamily="2" charset="0"/>
              </a:rPr>
              <a:t> di </a:t>
            </a:r>
            <a:r>
              <a:rPr lang="en-ID" sz="1200" dirty="0" err="1">
                <a:latin typeface="Montserrat" panose="00000500000000000000" pitchFamily="2" charset="0"/>
              </a:rPr>
              <a:t>peringkat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ketiga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dengan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nilai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b="1" dirty="0" err="1">
                <a:latin typeface="Montserrat" panose="00000500000000000000" pitchFamily="2" charset="0"/>
              </a:rPr>
              <a:t>Akurasi</a:t>
            </a:r>
            <a:r>
              <a:rPr lang="en-ID" sz="1200" b="1" dirty="0">
                <a:latin typeface="Montserrat" panose="00000500000000000000" pitchFamily="2" charset="0"/>
              </a:rPr>
              <a:t> 0.82</a:t>
            </a:r>
            <a:r>
              <a:rPr lang="en-ID" sz="1200" dirty="0">
                <a:latin typeface="Montserrat" panose="00000500000000000000" pitchFamily="2" charset="0"/>
              </a:rPr>
              <a:t> dan </a:t>
            </a:r>
            <a:r>
              <a:rPr lang="en-ID" sz="1200" b="1" dirty="0">
                <a:latin typeface="Montserrat" panose="00000500000000000000" pitchFamily="2" charset="0"/>
              </a:rPr>
              <a:t>ROC-AUC 0.88</a:t>
            </a:r>
            <a:r>
              <a:rPr lang="en-ID" sz="1200" dirty="0">
                <a:latin typeface="Montserrat" panose="00000500000000000000" pitchFamily="2" charset="0"/>
              </a:rPr>
              <a:t>, </a:t>
            </a:r>
            <a:r>
              <a:rPr lang="en-ID" sz="1200" dirty="0" err="1">
                <a:latin typeface="Montserrat" panose="00000500000000000000" pitchFamily="2" charset="0"/>
              </a:rPr>
              <a:t>menunjukkan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stabilitas</a:t>
            </a:r>
            <a:r>
              <a:rPr lang="en-ID" sz="1200" dirty="0">
                <a:latin typeface="Montserrat" panose="00000500000000000000" pitchFamily="2" charset="0"/>
              </a:rPr>
              <a:t> yang </a:t>
            </a:r>
            <a:r>
              <a:rPr lang="en-ID" sz="1200" dirty="0" err="1">
                <a:latin typeface="Montserrat" panose="00000500000000000000" pitchFamily="2" charset="0"/>
              </a:rPr>
              <a:t>baik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meskipun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sedikit</a:t>
            </a:r>
            <a:r>
              <a:rPr lang="en-ID" sz="1200" dirty="0">
                <a:latin typeface="Montserrat" panose="00000500000000000000" pitchFamily="2" charset="0"/>
              </a:rPr>
              <a:t> di </a:t>
            </a:r>
            <a:r>
              <a:rPr lang="en-ID" sz="1200" dirty="0" err="1">
                <a:latin typeface="Montserrat" panose="00000500000000000000" pitchFamily="2" charset="0"/>
              </a:rPr>
              <a:t>bawah</a:t>
            </a:r>
            <a:r>
              <a:rPr lang="en-ID" sz="1200" dirty="0">
                <a:latin typeface="Montserrat" panose="00000500000000000000" pitchFamily="2" charset="0"/>
              </a:rPr>
              <a:t> Random Forest.</a:t>
            </a:r>
          </a:p>
        </p:txBody>
      </p:sp>
    </p:spTree>
    <p:extLst>
      <p:ext uri="{BB962C8B-B14F-4D97-AF65-F5344CB8AC3E}">
        <p14:creationId xmlns:p14="http://schemas.microsoft.com/office/powerpoint/2010/main" val="3107268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1E07E9C-4E40-8B16-D351-E793AAEBD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0A0EB13F-8AF9-7081-22CD-A0FBA840E89D}"/>
              </a:ext>
            </a:extLst>
          </p:cNvPr>
          <p:cNvSpPr txBox="1">
            <a:spLocks/>
          </p:cNvSpPr>
          <p:nvPr/>
        </p:nvSpPr>
        <p:spPr>
          <a:xfrm>
            <a:off x="765174" y="703871"/>
            <a:ext cx="3871647" cy="70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dirty="0"/>
              <a:t>Feature Importance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4D28C-F90A-72F7-877B-FBC8B1EB08FF}"/>
              </a:ext>
            </a:extLst>
          </p:cNvPr>
          <p:cNvSpPr txBox="1"/>
          <p:nvPr/>
        </p:nvSpPr>
        <p:spPr>
          <a:xfrm>
            <a:off x="755648" y="1697965"/>
            <a:ext cx="69744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Montserrat" panose="00000500000000000000" pitchFamily="2" charset="0"/>
              </a:rPr>
              <a:t>Feature importance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adalah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ukuran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b="1" dirty="0" err="1">
                <a:latin typeface="Montserrat" panose="00000500000000000000" pitchFamily="2" charset="0"/>
              </a:rPr>
              <a:t>seberapa</a:t>
            </a:r>
            <a:r>
              <a:rPr lang="en-ID" b="1" dirty="0">
                <a:latin typeface="Montserrat" panose="00000500000000000000" pitchFamily="2" charset="0"/>
              </a:rPr>
              <a:t> </a:t>
            </a:r>
            <a:r>
              <a:rPr lang="en-ID" b="1" dirty="0" err="1">
                <a:latin typeface="Montserrat" panose="00000500000000000000" pitchFamily="2" charset="0"/>
              </a:rPr>
              <a:t>besar</a:t>
            </a:r>
            <a:r>
              <a:rPr lang="en-ID" b="1" dirty="0">
                <a:latin typeface="Montserrat" panose="00000500000000000000" pitchFamily="2" charset="0"/>
              </a:rPr>
              <a:t> </a:t>
            </a:r>
            <a:r>
              <a:rPr lang="en-ID" b="1" dirty="0" err="1">
                <a:latin typeface="Montserrat" panose="00000500000000000000" pitchFamily="2" charset="0"/>
              </a:rPr>
              <a:t>kontribusi</a:t>
            </a:r>
            <a:r>
              <a:rPr lang="en-ID" b="1" dirty="0">
                <a:latin typeface="Montserrat" panose="00000500000000000000" pitchFamily="2" charset="0"/>
              </a:rPr>
              <a:t> </a:t>
            </a:r>
            <a:r>
              <a:rPr lang="en-ID" b="1" dirty="0" err="1">
                <a:latin typeface="Montserrat" panose="00000500000000000000" pitchFamily="2" charset="0"/>
              </a:rPr>
              <a:t>setiap</a:t>
            </a:r>
            <a:r>
              <a:rPr lang="en-ID" b="1" dirty="0">
                <a:latin typeface="Montserrat" panose="00000500000000000000" pitchFamily="2" charset="0"/>
              </a:rPr>
              <a:t> </a:t>
            </a:r>
            <a:r>
              <a:rPr lang="en-ID" b="1" dirty="0" err="1">
                <a:latin typeface="Montserrat" panose="00000500000000000000" pitchFamily="2" charset="0"/>
              </a:rPr>
              <a:t>fitur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dalam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membantu</a:t>
            </a:r>
            <a:r>
              <a:rPr lang="en-ID" dirty="0">
                <a:latin typeface="Montserrat" panose="00000500000000000000" pitchFamily="2" charset="0"/>
              </a:rPr>
              <a:t> model </a:t>
            </a:r>
            <a:r>
              <a:rPr lang="en-ID" dirty="0" err="1">
                <a:latin typeface="Montserrat" panose="00000500000000000000" pitchFamily="2" charset="0"/>
              </a:rPr>
              <a:t>membuat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prediksi</a:t>
            </a:r>
            <a:r>
              <a:rPr lang="en-ID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46982-8C7F-4044-D884-4F8E5537B6DD}"/>
              </a:ext>
            </a:extLst>
          </p:cNvPr>
          <p:cNvSpPr txBox="1"/>
          <p:nvPr/>
        </p:nvSpPr>
        <p:spPr>
          <a:xfrm>
            <a:off x="755648" y="2571750"/>
            <a:ext cx="69744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latin typeface="Montserrat" panose="00000500000000000000" pitchFamily="2" charset="0"/>
              </a:rPr>
              <a:t>semakin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sering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fitur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tersebut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digunakan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dalam</a:t>
            </a:r>
            <a:r>
              <a:rPr lang="en-ID" dirty="0">
                <a:latin typeface="Montserrat" panose="00000500000000000000" pitchFamily="2" charset="0"/>
              </a:rPr>
              <a:t> proses split, dan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latin typeface="Montserrat" panose="00000500000000000000" pitchFamily="2" charset="0"/>
              </a:rPr>
              <a:t>semakin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besar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pengaruhnya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terhadap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hasil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prediksi</a:t>
            </a:r>
            <a:r>
              <a:rPr lang="en-ID" dirty="0">
                <a:latin typeface="Montserrat" panose="00000500000000000000" pitchFamily="2" charset="0"/>
              </a:rPr>
              <a:t> model..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533B95-13D7-9AB6-4DC1-0CD89906B99E}"/>
              </a:ext>
            </a:extLst>
          </p:cNvPr>
          <p:cNvSpPr txBox="1"/>
          <p:nvPr/>
        </p:nvSpPr>
        <p:spPr>
          <a:xfrm>
            <a:off x="776553" y="226397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Montserrat" panose="00000500000000000000" pitchFamily="2" charset="0"/>
              </a:rPr>
              <a:t>Semakin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besar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nilai</a:t>
            </a:r>
            <a:r>
              <a:rPr lang="en-ID" dirty="0">
                <a:latin typeface="Montserrat" panose="00000500000000000000" pitchFamily="2" charset="0"/>
              </a:rPr>
              <a:t> feature importance: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6E6F0D-B6B0-B199-D5F5-17CD9D336F25}"/>
              </a:ext>
            </a:extLst>
          </p:cNvPr>
          <p:cNvSpPr txBox="1"/>
          <p:nvPr/>
        </p:nvSpPr>
        <p:spPr>
          <a:xfrm>
            <a:off x="776553" y="3180546"/>
            <a:ext cx="69535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latin typeface="Montserrat" panose="00000500000000000000" pitchFamily="2" charset="0"/>
              </a:rPr>
              <a:t>Nilai feature importance </a:t>
            </a:r>
            <a:r>
              <a:rPr lang="en-ID" sz="1400" dirty="0" err="1">
                <a:latin typeface="Montserrat" panose="00000500000000000000" pitchFamily="2" charset="0"/>
              </a:rPr>
              <a:t>berada</a:t>
            </a:r>
            <a:r>
              <a:rPr lang="en-ID" sz="1400" dirty="0">
                <a:latin typeface="Montserrat" panose="00000500000000000000" pitchFamily="2" charset="0"/>
              </a:rPr>
              <a:t> pada </a:t>
            </a:r>
            <a:r>
              <a:rPr lang="en-ID" sz="1400" dirty="0" err="1">
                <a:latin typeface="Montserrat" panose="00000500000000000000" pitchFamily="2" charset="0"/>
              </a:rPr>
              <a:t>rentang</a:t>
            </a:r>
            <a:r>
              <a:rPr lang="en-ID" sz="1400" dirty="0">
                <a:latin typeface="Montserrat" panose="00000500000000000000" pitchFamily="2" charset="0"/>
              </a:rPr>
              <a:t> </a:t>
            </a:r>
            <a:r>
              <a:rPr lang="en-ID" sz="1400" b="1" dirty="0">
                <a:latin typeface="Montserrat" panose="00000500000000000000" pitchFamily="2" charset="0"/>
              </a:rPr>
              <a:t>0 </a:t>
            </a:r>
            <a:r>
              <a:rPr lang="en-ID" sz="1400" b="1" dirty="0" err="1">
                <a:latin typeface="Montserrat" panose="00000500000000000000" pitchFamily="2" charset="0"/>
              </a:rPr>
              <a:t>hingga</a:t>
            </a:r>
            <a:r>
              <a:rPr lang="en-ID" sz="1400" b="1" dirty="0">
                <a:latin typeface="Montserrat" panose="00000500000000000000" pitchFamily="2" charset="0"/>
              </a:rPr>
              <a:t> 1</a:t>
            </a:r>
            <a:r>
              <a:rPr lang="en-ID" sz="1400" dirty="0">
                <a:latin typeface="Montserrat" panose="00000500000000000000" pitchFamily="2" charset="0"/>
              </a:rPr>
              <a:t>, di mana </a:t>
            </a:r>
            <a:r>
              <a:rPr lang="en-ID" sz="1400" dirty="0" err="1">
                <a:latin typeface="Montserrat" panose="00000500000000000000" pitchFamily="2" charset="0"/>
              </a:rPr>
              <a:t>nilai</a:t>
            </a:r>
            <a:r>
              <a:rPr lang="en-ID" sz="1400" dirty="0">
                <a:latin typeface="Montserrat" panose="00000500000000000000" pitchFamily="2" charset="0"/>
              </a:rPr>
              <a:t> yang </a:t>
            </a:r>
            <a:r>
              <a:rPr lang="en-ID" sz="1400" dirty="0" err="1">
                <a:latin typeface="Montserrat" panose="00000500000000000000" pitchFamily="2" charset="0"/>
              </a:rPr>
              <a:t>lebih</a:t>
            </a:r>
            <a:r>
              <a:rPr lang="en-ID" sz="1400" dirty="0">
                <a:latin typeface="Montserrat" panose="00000500000000000000" pitchFamily="2" charset="0"/>
              </a:rPr>
              <a:t> </a:t>
            </a:r>
            <a:r>
              <a:rPr lang="en-ID" sz="1400" dirty="0" err="1">
                <a:latin typeface="Montserrat" panose="00000500000000000000" pitchFamily="2" charset="0"/>
              </a:rPr>
              <a:t>tinggi</a:t>
            </a:r>
            <a:r>
              <a:rPr lang="en-ID" sz="1400" dirty="0">
                <a:latin typeface="Montserrat" panose="00000500000000000000" pitchFamily="2" charset="0"/>
              </a:rPr>
              <a:t> </a:t>
            </a:r>
            <a:r>
              <a:rPr lang="en-ID" sz="1400" dirty="0" err="1">
                <a:latin typeface="Montserrat" panose="00000500000000000000" pitchFamily="2" charset="0"/>
              </a:rPr>
              <a:t>menunjukkan</a:t>
            </a:r>
            <a:r>
              <a:rPr lang="en-ID" sz="1400" dirty="0">
                <a:latin typeface="Montserrat" panose="00000500000000000000" pitchFamily="2" charset="0"/>
              </a:rPr>
              <a:t> </a:t>
            </a:r>
            <a:r>
              <a:rPr lang="en-ID" sz="1400" dirty="0" err="1">
                <a:latin typeface="Montserrat" panose="00000500000000000000" pitchFamily="2" charset="0"/>
              </a:rPr>
              <a:t>fitur</a:t>
            </a:r>
            <a:r>
              <a:rPr lang="en-ID" sz="1400" dirty="0">
                <a:latin typeface="Montserrat" panose="00000500000000000000" pitchFamily="2" charset="0"/>
              </a:rPr>
              <a:t> yang </a:t>
            </a:r>
            <a:r>
              <a:rPr lang="en-ID" sz="1400" dirty="0" err="1">
                <a:latin typeface="Montserrat" panose="00000500000000000000" pitchFamily="2" charset="0"/>
              </a:rPr>
              <a:t>lebih</a:t>
            </a:r>
            <a:r>
              <a:rPr lang="en-ID" sz="1400" dirty="0">
                <a:latin typeface="Montserrat" panose="00000500000000000000" pitchFamily="2" charset="0"/>
              </a:rPr>
              <a:t> </a:t>
            </a:r>
            <a:r>
              <a:rPr lang="en-ID" sz="1400" dirty="0" err="1">
                <a:latin typeface="Montserrat" panose="00000500000000000000" pitchFamily="2" charset="0"/>
              </a:rPr>
              <a:t>dominan</a:t>
            </a:r>
            <a:r>
              <a:rPr lang="en-ID" sz="1400" dirty="0">
                <a:latin typeface="Montserrat" panose="00000500000000000000" pitchFamily="2" charset="0"/>
              </a:rPr>
              <a:t> </a:t>
            </a:r>
            <a:r>
              <a:rPr lang="en-ID" sz="1400" dirty="0" err="1">
                <a:latin typeface="Montserrat" panose="00000500000000000000" pitchFamily="2" charset="0"/>
              </a:rPr>
              <a:t>dalam</a:t>
            </a:r>
            <a:r>
              <a:rPr lang="en-ID" sz="1400" dirty="0">
                <a:latin typeface="Montserrat" panose="00000500000000000000" pitchFamily="2" charset="0"/>
              </a:rPr>
              <a:t> </a:t>
            </a:r>
            <a:r>
              <a:rPr lang="en-ID" sz="1400" dirty="0" err="1">
                <a:latin typeface="Montserrat" panose="00000500000000000000" pitchFamily="2" charset="0"/>
              </a:rPr>
              <a:t>menentukan</a:t>
            </a:r>
            <a:r>
              <a:rPr lang="en-ID" sz="1400" dirty="0">
                <a:latin typeface="Montserrat" panose="00000500000000000000" pitchFamily="2" charset="0"/>
              </a:rPr>
              <a:t> </a:t>
            </a:r>
            <a:r>
              <a:rPr lang="en-ID" sz="1400" dirty="0" err="1">
                <a:latin typeface="Montserrat" panose="00000500000000000000" pitchFamily="2" charset="0"/>
              </a:rPr>
              <a:t>prediksi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98785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86E8981-6785-1B19-0875-AA753236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E4B1DE1B-8339-D2ED-E261-67B8A84C94E0}"/>
              </a:ext>
            </a:extLst>
          </p:cNvPr>
          <p:cNvSpPr txBox="1">
            <a:spLocks/>
          </p:cNvSpPr>
          <p:nvPr/>
        </p:nvSpPr>
        <p:spPr>
          <a:xfrm>
            <a:off x="2636176" y="102738"/>
            <a:ext cx="3871647" cy="70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dirty="0"/>
              <a:t>Feature Importance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57F39-BC1F-8ACF-67A8-BB657B05E08D}"/>
              </a:ext>
            </a:extLst>
          </p:cNvPr>
          <p:cNvSpPr txBox="1"/>
          <p:nvPr/>
        </p:nvSpPr>
        <p:spPr>
          <a:xfrm>
            <a:off x="5655733" y="1618153"/>
            <a:ext cx="34480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b="1" dirty="0" err="1"/>
              <a:t>thalach</a:t>
            </a:r>
            <a:r>
              <a:rPr lang="en-ID" sz="1200" dirty="0"/>
              <a:t> dan </a:t>
            </a:r>
            <a:r>
              <a:rPr lang="en-ID" sz="1200" b="1" dirty="0"/>
              <a:t>cp</a:t>
            </a:r>
            <a:r>
              <a:rPr lang="en-ID" sz="1200" dirty="0"/>
              <a:t> </a:t>
            </a:r>
            <a:r>
              <a:rPr lang="en-ID" sz="1200" dirty="0" err="1"/>
              <a:t>merupakan</a:t>
            </a:r>
            <a:r>
              <a:rPr lang="en-ID" sz="1200" dirty="0"/>
              <a:t> </a:t>
            </a:r>
            <a:r>
              <a:rPr lang="en-ID" sz="1200" dirty="0" err="1"/>
              <a:t>fitur</a:t>
            </a:r>
            <a:r>
              <a:rPr lang="en-ID" sz="1200" dirty="0"/>
              <a:t> paling </a:t>
            </a:r>
            <a:r>
              <a:rPr lang="en-ID" sz="1200" dirty="0" err="1"/>
              <a:t>berpengaruh</a:t>
            </a:r>
            <a:r>
              <a:rPr lang="en-ID" sz="1200" dirty="0"/>
              <a:t>, </a:t>
            </a:r>
            <a:r>
              <a:rPr lang="en-ID" sz="1200" dirty="0" err="1"/>
              <a:t>menunjukkan</a:t>
            </a:r>
            <a:r>
              <a:rPr lang="en-ID" sz="1200" dirty="0"/>
              <a:t> </a:t>
            </a:r>
            <a:r>
              <a:rPr lang="en-ID" sz="1200" dirty="0" err="1"/>
              <a:t>bahwa</a:t>
            </a:r>
            <a:r>
              <a:rPr lang="en-ID" sz="1200" dirty="0"/>
              <a:t> </a:t>
            </a:r>
            <a:r>
              <a:rPr lang="en-ID" sz="1200" b="1" dirty="0" err="1"/>
              <a:t>kondisi</a:t>
            </a:r>
            <a:r>
              <a:rPr lang="en-ID" sz="1200" b="1" dirty="0"/>
              <a:t> dan </a:t>
            </a:r>
            <a:r>
              <a:rPr lang="en-ID" sz="1200" b="1" dirty="0" err="1"/>
              <a:t>respons</a:t>
            </a:r>
            <a:r>
              <a:rPr lang="en-ID" sz="1200" b="1" dirty="0"/>
              <a:t> </a:t>
            </a:r>
            <a:r>
              <a:rPr lang="en-ID" sz="1200" b="1" dirty="0" err="1"/>
              <a:t>jantung</a:t>
            </a:r>
            <a:r>
              <a:rPr lang="en-ID" sz="1200" dirty="0"/>
              <a:t> </a:t>
            </a:r>
            <a:r>
              <a:rPr lang="en-ID" sz="1200" dirty="0" err="1"/>
              <a:t>menjadi</a:t>
            </a:r>
            <a:r>
              <a:rPr lang="en-ID" sz="1200" dirty="0"/>
              <a:t> </a:t>
            </a:r>
            <a:r>
              <a:rPr lang="en-ID" sz="1200" dirty="0" err="1"/>
              <a:t>faktor</a:t>
            </a:r>
            <a:r>
              <a:rPr lang="en-ID" sz="1200" dirty="0"/>
              <a:t> </a:t>
            </a:r>
            <a:r>
              <a:rPr lang="en-ID" sz="1200" dirty="0" err="1"/>
              <a:t>utama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</a:t>
            </a:r>
            <a:r>
              <a:rPr lang="en-ID" sz="1200" dirty="0" err="1"/>
              <a:t>prediksi</a:t>
            </a:r>
            <a:r>
              <a:rPr lang="en-ID" sz="1200" dirty="0"/>
              <a:t>.</a:t>
            </a:r>
          </a:p>
          <a:p>
            <a:endParaRPr lang="en-ID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/>
              <a:t>Fitur </a:t>
            </a:r>
            <a:r>
              <a:rPr lang="en-ID" sz="1200" dirty="0" err="1"/>
              <a:t>pemeriksaan</a:t>
            </a:r>
            <a:r>
              <a:rPr lang="en-ID" sz="1200" dirty="0"/>
              <a:t> </a:t>
            </a:r>
            <a:r>
              <a:rPr lang="en-ID" sz="1200" dirty="0" err="1"/>
              <a:t>medis</a:t>
            </a:r>
            <a:r>
              <a:rPr lang="en-ID" sz="1200" dirty="0"/>
              <a:t> (</a:t>
            </a:r>
            <a:r>
              <a:rPr lang="en-ID" sz="1200" b="1" dirty="0" err="1"/>
              <a:t>thal</a:t>
            </a:r>
            <a:r>
              <a:rPr lang="en-ID" sz="1200" dirty="0"/>
              <a:t>, </a:t>
            </a:r>
            <a:r>
              <a:rPr lang="en-ID" sz="1200" b="1" dirty="0"/>
              <a:t>ca</a:t>
            </a:r>
            <a:r>
              <a:rPr lang="en-ID" sz="1200" dirty="0"/>
              <a:t>)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dominan</a:t>
            </a:r>
            <a:r>
              <a:rPr lang="en-ID" sz="1200" dirty="0"/>
              <a:t> </a:t>
            </a:r>
            <a:r>
              <a:rPr lang="en-ID" sz="1200" dirty="0" err="1"/>
              <a:t>dibandingkan</a:t>
            </a:r>
            <a:r>
              <a:rPr lang="en-ID" sz="1200" dirty="0"/>
              <a:t> </a:t>
            </a:r>
            <a:r>
              <a:rPr lang="en-ID" sz="1200" dirty="0" err="1"/>
              <a:t>fitur</a:t>
            </a:r>
            <a:r>
              <a:rPr lang="en-ID" sz="1200" dirty="0"/>
              <a:t> </a:t>
            </a:r>
            <a:r>
              <a:rPr lang="en-ID" sz="1200" dirty="0" err="1"/>
              <a:t>demografis</a:t>
            </a:r>
            <a:r>
              <a:rPr lang="en-ID" sz="1200" dirty="0"/>
              <a:t> (</a:t>
            </a:r>
            <a:r>
              <a:rPr lang="en-ID" sz="1200" b="1" dirty="0"/>
              <a:t>age</a:t>
            </a:r>
            <a:r>
              <a:rPr lang="en-ID" sz="1200" dirty="0"/>
              <a:t>, </a:t>
            </a:r>
            <a:r>
              <a:rPr lang="en-ID" sz="1200" b="1" dirty="0"/>
              <a:t>sex</a:t>
            </a:r>
            <a:r>
              <a:rPr lang="en-ID" sz="1200" dirty="0"/>
              <a:t>).</a:t>
            </a:r>
          </a:p>
          <a:p>
            <a:endParaRPr lang="en-ID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/>
              <a:t>Fitur </a:t>
            </a:r>
            <a:r>
              <a:rPr lang="en-ID" sz="1200" dirty="0" err="1"/>
              <a:t>dengan</a:t>
            </a:r>
            <a:r>
              <a:rPr lang="en-ID" sz="1200" dirty="0"/>
              <a:t> importance </a:t>
            </a:r>
            <a:r>
              <a:rPr lang="en-ID" sz="1200" dirty="0" err="1"/>
              <a:t>rendah</a:t>
            </a:r>
            <a:r>
              <a:rPr lang="en-ID" sz="1200" dirty="0"/>
              <a:t>(age, </a:t>
            </a:r>
            <a:r>
              <a:rPr lang="en-ID" sz="1200" dirty="0" err="1"/>
              <a:t>exang</a:t>
            </a:r>
            <a:r>
              <a:rPr lang="en-ID" sz="1200" dirty="0"/>
              <a:t> dan slope) </a:t>
            </a:r>
            <a:r>
              <a:rPr lang="en-ID" sz="1200" dirty="0" err="1"/>
              <a:t>tetap</a:t>
            </a:r>
            <a:r>
              <a:rPr lang="en-ID" sz="1200" dirty="0"/>
              <a:t> </a:t>
            </a:r>
            <a:r>
              <a:rPr lang="en-ID" sz="1200" dirty="0" err="1"/>
              <a:t>berperan</a:t>
            </a:r>
            <a:r>
              <a:rPr lang="en-ID" sz="1200" dirty="0"/>
              <a:t> </a:t>
            </a:r>
            <a:r>
              <a:rPr lang="en-ID" sz="1200" dirty="0" err="1"/>
              <a:t>sebagai</a:t>
            </a:r>
            <a:r>
              <a:rPr lang="en-ID" sz="1200" dirty="0"/>
              <a:t> </a:t>
            </a:r>
            <a:r>
              <a:rPr lang="en-ID" sz="1200" b="1" dirty="0" err="1"/>
              <a:t>pendukung</a:t>
            </a:r>
            <a:r>
              <a:rPr lang="en-ID" sz="1200" b="1" dirty="0"/>
              <a:t> model</a:t>
            </a:r>
            <a:r>
              <a:rPr lang="en-ID" sz="12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BDE49-1B4E-DB8E-1280-A368DF913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9" y="887575"/>
            <a:ext cx="5461000" cy="3368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3B6810-6D7D-C844-82C8-45275B53D494}"/>
              </a:ext>
            </a:extLst>
          </p:cNvPr>
          <p:cNvSpPr txBox="1"/>
          <p:nvPr/>
        </p:nvSpPr>
        <p:spPr>
          <a:xfrm>
            <a:off x="5655733" y="1094423"/>
            <a:ext cx="3448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/>
              <a:t>Insight Feature Importance (Random Forest)</a:t>
            </a:r>
          </a:p>
        </p:txBody>
      </p:sp>
    </p:spTree>
    <p:extLst>
      <p:ext uri="{BB962C8B-B14F-4D97-AF65-F5344CB8AC3E}">
        <p14:creationId xmlns:p14="http://schemas.microsoft.com/office/powerpoint/2010/main" val="9350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9C679F9-FDA6-5EF6-B51C-D3E298905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25">
            <a:extLst>
              <a:ext uri="{FF2B5EF4-FFF2-40B4-BE49-F238E27FC236}">
                <a16:creationId xmlns:a16="http://schemas.microsoft.com/office/drawing/2014/main" id="{DC239E20-6EFE-E673-F7FC-FADA3A2972DF}"/>
              </a:ext>
            </a:extLst>
          </p:cNvPr>
          <p:cNvSpPr txBox="1">
            <a:spLocks/>
          </p:cNvSpPr>
          <p:nvPr/>
        </p:nvSpPr>
        <p:spPr>
          <a:xfrm>
            <a:off x="660398" y="719705"/>
            <a:ext cx="4597401" cy="642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4CA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54CA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600"/>
            </a:pPr>
            <a:r>
              <a:rPr lang="en-US" dirty="0" err="1"/>
              <a:t>Rekomendasi</a:t>
            </a:r>
            <a:r>
              <a:rPr lang="en-US" dirty="0"/>
              <a:t> </a:t>
            </a:r>
            <a:r>
              <a:rPr lang="en-US" dirty="0" err="1"/>
              <a:t>Strategis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AD1A72-575E-8C39-052A-8E82B749338D}"/>
              </a:ext>
            </a:extLst>
          </p:cNvPr>
          <p:cNvSpPr txBox="1"/>
          <p:nvPr/>
        </p:nvSpPr>
        <p:spPr>
          <a:xfrm>
            <a:off x="719665" y="3758503"/>
            <a:ext cx="735012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100" b="1" dirty="0" err="1">
                <a:latin typeface="Montserrat" panose="00000500000000000000" pitchFamily="2" charset="0"/>
              </a:rPr>
              <a:t>Keseimbangan</a:t>
            </a:r>
            <a:r>
              <a:rPr lang="en-ID" sz="1100" b="1" dirty="0">
                <a:latin typeface="Montserrat" panose="00000500000000000000" pitchFamily="2" charset="0"/>
              </a:rPr>
              <a:t> </a:t>
            </a:r>
            <a:r>
              <a:rPr lang="en-ID" sz="1100" b="1" dirty="0" err="1">
                <a:latin typeface="Montserrat" panose="00000500000000000000" pitchFamily="2" charset="0"/>
              </a:rPr>
              <a:t>Diagnosa</a:t>
            </a:r>
            <a:r>
              <a:rPr lang="en-ID" sz="1100" b="1" dirty="0">
                <a:latin typeface="Montserrat" panose="00000500000000000000" pitchFamily="2" charset="0"/>
              </a:rPr>
              <a:t>: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Melalui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penyesuaian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i="1" dirty="0">
                <a:latin typeface="Montserrat" panose="00000500000000000000" pitchFamily="2" charset="0"/>
              </a:rPr>
              <a:t>threshold</a:t>
            </a:r>
            <a:r>
              <a:rPr lang="en-ID" sz="1100" dirty="0">
                <a:latin typeface="Montserrat" panose="00000500000000000000" pitchFamily="2" charset="0"/>
              </a:rPr>
              <a:t> pada </a:t>
            </a:r>
            <a:r>
              <a:rPr lang="en-ID" sz="1100" dirty="0" err="1">
                <a:latin typeface="Montserrat" panose="00000500000000000000" pitchFamily="2" charset="0"/>
              </a:rPr>
              <a:t>angka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b="1" dirty="0">
                <a:latin typeface="Montserrat" panose="00000500000000000000" pitchFamily="2" charset="0"/>
              </a:rPr>
              <a:t>0.53</a:t>
            </a:r>
            <a:r>
              <a:rPr lang="en-ID" sz="1100" dirty="0">
                <a:latin typeface="Montserrat" panose="00000500000000000000" pitchFamily="2" charset="0"/>
              </a:rPr>
              <a:t>, model </a:t>
            </a:r>
            <a:r>
              <a:rPr lang="en-ID" sz="1100" dirty="0" err="1">
                <a:latin typeface="Montserrat" panose="00000500000000000000" pitchFamily="2" charset="0"/>
              </a:rPr>
              <a:t>ini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memberikan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rasio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Sensitivitas</a:t>
            </a:r>
            <a:r>
              <a:rPr lang="en-ID" sz="1100" dirty="0">
                <a:latin typeface="Montserrat" panose="00000500000000000000" pitchFamily="2" charset="0"/>
              </a:rPr>
              <a:t> dan </a:t>
            </a:r>
            <a:r>
              <a:rPr lang="en-ID" sz="1100" dirty="0" err="1">
                <a:latin typeface="Montserrat" panose="00000500000000000000" pitchFamily="2" charset="0"/>
              </a:rPr>
              <a:t>Spesifisitas</a:t>
            </a:r>
            <a:r>
              <a:rPr lang="en-ID" sz="1100" dirty="0">
                <a:latin typeface="Montserrat" panose="00000500000000000000" pitchFamily="2" charset="0"/>
              </a:rPr>
              <a:t> yang paling </a:t>
            </a:r>
            <a:r>
              <a:rPr lang="en-ID" sz="1100" dirty="0" err="1">
                <a:latin typeface="Montserrat" panose="00000500000000000000" pitchFamily="2" charset="0"/>
              </a:rPr>
              <a:t>seimbang</a:t>
            </a:r>
            <a:r>
              <a:rPr lang="en-ID" sz="1100" dirty="0">
                <a:latin typeface="Montserrat" panose="00000500000000000000" pitchFamily="2" charset="0"/>
              </a:rPr>
              <a:t>, sangat </a:t>
            </a:r>
            <a:r>
              <a:rPr lang="en-ID" sz="1100" dirty="0" err="1">
                <a:latin typeface="Montserrat" panose="00000500000000000000" pitchFamily="2" charset="0"/>
              </a:rPr>
              <a:t>krusial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dalam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meminimalkan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risiko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pasien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bergejala</a:t>
            </a:r>
            <a:r>
              <a:rPr lang="en-ID" sz="1100" dirty="0">
                <a:latin typeface="Montserrat" panose="00000500000000000000" pitchFamily="2" charset="0"/>
              </a:rPr>
              <a:t> yang </a:t>
            </a:r>
            <a:r>
              <a:rPr lang="en-ID" sz="1100" dirty="0" err="1">
                <a:latin typeface="Montserrat" panose="00000500000000000000" pitchFamily="2" charset="0"/>
              </a:rPr>
              <a:t>tidak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terdeteksi</a:t>
            </a:r>
            <a:r>
              <a:rPr lang="en-ID" sz="1100" dirty="0">
                <a:latin typeface="Montserrat" panose="00000500000000000000" pitchFamily="2" charset="0"/>
              </a:rPr>
              <a:t> (</a:t>
            </a:r>
            <a:r>
              <a:rPr lang="en-ID" sz="1100" i="1" dirty="0">
                <a:latin typeface="Montserrat" panose="00000500000000000000" pitchFamily="2" charset="0"/>
              </a:rPr>
              <a:t>False Negative</a:t>
            </a:r>
            <a:r>
              <a:rPr lang="en-ID" sz="1100" dirty="0">
                <a:latin typeface="Montserrat" panose="00000500000000000000" pitchFamily="2" charset="0"/>
              </a:rPr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C4CEA-A3B7-DB8B-BCF9-17C6C91734E8}"/>
              </a:ext>
            </a:extLst>
          </p:cNvPr>
          <p:cNvSpPr txBox="1"/>
          <p:nvPr/>
        </p:nvSpPr>
        <p:spPr>
          <a:xfrm>
            <a:off x="729191" y="1340533"/>
            <a:ext cx="73596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Montserrat" panose="00000500000000000000" pitchFamily="2" charset="0"/>
              </a:rPr>
              <a:t>Berdasarkan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hasil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pengujian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komprehensif</a:t>
            </a:r>
            <a:r>
              <a:rPr lang="en-ID" dirty="0">
                <a:latin typeface="Montserrat" panose="00000500000000000000" pitchFamily="2" charset="0"/>
              </a:rPr>
              <a:t>, </a:t>
            </a:r>
            <a:r>
              <a:rPr lang="en-ID" b="1" dirty="0">
                <a:latin typeface="Montserrat" panose="00000500000000000000" pitchFamily="2" charset="0"/>
              </a:rPr>
              <a:t>Random Forest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direkomendasikan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sebagai</a:t>
            </a:r>
            <a:r>
              <a:rPr lang="en-ID" dirty="0">
                <a:latin typeface="Montserrat" panose="00000500000000000000" pitchFamily="2" charset="0"/>
              </a:rPr>
              <a:t> model </a:t>
            </a:r>
            <a:r>
              <a:rPr lang="en-ID" dirty="0" err="1">
                <a:latin typeface="Montserrat" panose="00000500000000000000" pitchFamily="2" charset="0"/>
              </a:rPr>
              <a:t>utama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untuk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diimplementasikan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dalam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sistem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deteksi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dini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penyakit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jantung</a:t>
            </a:r>
            <a:r>
              <a:rPr lang="en-ID" dirty="0">
                <a:latin typeface="Montserrat" panose="00000500000000000000" pitchFamily="2" charset="0"/>
              </a:rPr>
              <a:t>.</a:t>
            </a:r>
            <a:endParaRPr lang="en-ID" b="1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8BACB-91AB-A401-3756-E41A906AA22E}"/>
              </a:ext>
            </a:extLst>
          </p:cNvPr>
          <p:cNvSpPr txBox="1"/>
          <p:nvPr/>
        </p:nvSpPr>
        <p:spPr>
          <a:xfrm>
            <a:off x="719665" y="2091083"/>
            <a:ext cx="7350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latin typeface="Montserrat" panose="00000500000000000000" pitchFamily="2" charset="0"/>
              </a:rPr>
              <a:t>Alasan Teknis &amp; </a:t>
            </a:r>
            <a:r>
              <a:rPr lang="en-ID" sz="1200" dirty="0" err="1">
                <a:latin typeface="Montserrat" panose="00000500000000000000" pitchFamily="2" charset="0"/>
              </a:rPr>
              <a:t>Bisnis</a:t>
            </a:r>
            <a:r>
              <a:rPr lang="en-ID" sz="1200" dirty="0">
                <a:latin typeface="Montserrat" panose="00000500000000000000" pitchFamily="2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C022AC-F1BB-74BB-61BD-65C27B5106A0}"/>
              </a:ext>
            </a:extLst>
          </p:cNvPr>
          <p:cNvSpPr txBox="1"/>
          <p:nvPr/>
        </p:nvSpPr>
        <p:spPr>
          <a:xfrm>
            <a:off x="729191" y="2441365"/>
            <a:ext cx="735965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100" b="1" dirty="0" err="1">
                <a:latin typeface="Montserrat" panose="00000500000000000000" pitchFamily="2" charset="0"/>
              </a:rPr>
              <a:t>Superioritas</a:t>
            </a:r>
            <a:r>
              <a:rPr lang="en-ID" sz="1100" b="1" dirty="0">
                <a:latin typeface="Montserrat" panose="00000500000000000000" pitchFamily="2" charset="0"/>
              </a:rPr>
              <a:t> </a:t>
            </a:r>
            <a:r>
              <a:rPr lang="en-ID" sz="1100" b="1" dirty="0" err="1">
                <a:latin typeface="Montserrat" panose="00000500000000000000" pitchFamily="2" charset="0"/>
              </a:rPr>
              <a:t>Metrik</a:t>
            </a:r>
            <a:r>
              <a:rPr lang="en-ID" sz="1100" b="1" dirty="0">
                <a:latin typeface="Montserrat" panose="00000500000000000000" pitchFamily="2" charset="0"/>
              </a:rPr>
              <a:t>:</a:t>
            </a:r>
            <a:r>
              <a:rPr lang="en-ID" sz="1100" dirty="0">
                <a:latin typeface="Montserrat" panose="00000500000000000000" pitchFamily="2" charset="0"/>
              </a:rPr>
              <a:t>  Model </a:t>
            </a:r>
            <a:r>
              <a:rPr lang="en-ID" sz="1100" dirty="0" err="1">
                <a:latin typeface="Montserrat" panose="00000500000000000000" pitchFamily="2" charset="0"/>
              </a:rPr>
              <a:t>ini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tidak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hanya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mencapai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akurasi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tertinggi</a:t>
            </a:r>
            <a:r>
              <a:rPr lang="en-ID" sz="1100" dirty="0">
                <a:latin typeface="Montserrat" panose="00000500000000000000" pitchFamily="2" charset="0"/>
              </a:rPr>
              <a:t> (</a:t>
            </a:r>
            <a:r>
              <a:rPr lang="en-ID" sz="1100" b="1" dirty="0">
                <a:latin typeface="Montserrat" panose="00000500000000000000" pitchFamily="2" charset="0"/>
              </a:rPr>
              <a:t>86%</a:t>
            </a:r>
            <a:r>
              <a:rPr lang="en-ID" sz="1100" dirty="0">
                <a:latin typeface="Montserrat" panose="00000500000000000000" pitchFamily="2" charset="0"/>
              </a:rPr>
              <a:t>), </a:t>
            </a:r>
            <a:r>
              <a:rPr lang="en-ID" sz="1100" dirty="0" err="1">
                <a:latin typeface="Montserrat" panose="00000500000000000000" pitchFamily="2" charset="0"/>
              </a:rPr>
              <a:t>tetapi</a:t>
            </a:r>
            <a:r>
              <a:rPr lang="en-ID" sz="1100" dirty="0">
                <a:latin typeface="Montserrat" panose="00000500000000000000" pitchFamily="2" charset="0"/>
              </a:rPr>
              <a:t> juga </a:t>
            </a:r>
            <a:r>
              <a:rPr lang="en-ID" sz="1100" dirty="0" err="1">
                <a:latin typeface="Montserrat" panose="00000500000000000000" pitchFamily="2" charset="0"/>
              </a:rPr>
              <a:t>memiliki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nilai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b="1" dirty="0">
                <a:latin typeface="Montserrat" panose="00000500000000000000" pitchFamily="2" charset="0"/>
              </a:rPr>
              <a:t>ROC-AUC </a:t>
            </a:r>
            <a:r>
              <a:rPr lang="en-ID" sz="1100" b="1" dirty="0" err="1">
                <a:latin typeface="Montserrat" panose="00000500000000000000" pitchFamily="2" charset="0"/>
              </a:rPr>
              <a:t>sebesar</a:t>
            </a:r>
            <a:r>
              <a:rPr lang="en-ID" sz="1100" b="1" dirty="0">
                <a:latin typeface="Montserrat" panose="00000500000000000000" pitchFamily="2" charset="0"/>
              </a:rPr>
              <a:t> 0.90 </a:t>
            </a:r>
            <a:r>
              <a:rPr lang="en-ID" sz="1100" dirty="0" err="1">
                <a:latin typeface="Montserrat" panose="00000500000000000000" pitchFamily="2" charset="0"/>
              </a:rPr>
              <a:t>serta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b="1" dirty="0">
                <a:latin typeface="Montserrat" panose="00000500000000000000" pitchFamily="2" charset="0"/>
              </a:rPr>
              <a:t>Recall </a:t>
            </a:r>
            <a:r>
              <a:rPr lang="en-ID" sz="1100" b="1" dirty="0" err="1">
                <a:latin typeface="Montserrat" panose="00000500000000000000" pitchFamily="2" charset="0"/>
              </a:rPr>
              <a:t>dengan</a:t>
            </a:r>
            <a:r>
              <a:rPr lang="en-ID" sz="1100" b="1" dirty="0">
                <a:latin typeface="Montserrat" panose="00000500000000000000" pitchFamily="2" charset="0"/>
              </a:rPr>
              <a:t> </a:t>
            </a:r>
            <a:r>
              <a:rPr lang="en-ID" sz="1100" b="1" dirty="0" err="1">
                <a:latin typeface="Montserrat" panose="00000500000000000000" pitchFamily="2" charset="0"/>
              </a:rPr>
              <a:t>nilai</a:t>
            </a:r>
            <a:r>
              <a:rPr lang="en-ID" sz="1100" b="1" dirty="0">
                <a:latin typeface="Montserrat" panose="00000500000000000000" pitchFamily="2" charset="0"/>
              </a:rPr>
              <a:t> 0.90</a:t>
            </a:r>
            <a:r>
              <a:rPr lang="en-ID" sz="1100" dirty="0">
                <a:latin typeface="Montserrat" panose="00000500000000000000" pitchFamily="2" charset="0"/>
              </a:rPr>
              <a:t>, yang </a:t>
            </a:r>
            <a:r>
              <a:rPr lang="en-ID" sz="1100" dirty="0" err="1">
                <a:latin typeface="Montserrat" panose="00000500000000000000" pitchFamily="2" charset="0"/>
              </a:rPr>
              <a:t>berarti</a:t>
            </a:r>
            <a:r>
              <a:rPr lang="en-ID" sz="1100" dirty="0">
                <a:latin typeface="Montserrat" panose="00000500000000000000" pitchFamily="2" charset="0"/>
              </a:rPr>
              <a:t> model </a:t>
            </a:r>
            <a:r>
              <a:rPr lang="en-ID" sz="1100" dirty="0" err="1">
                <a:latin typeface="Montserrat" panose="00000500000000000000" pitchFamily="2" charset="0"/>
              </a:rPr>
              <a:t>memiliki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tingkat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kepastian</a:t>
            </a:r>
            <a:r>
              <a:rPr lang="en-ID" sz="1100" dirty="0">
                <a:latin typeface="Montserrat" panose="00000500000000000000" pitchFamily="2" charset="0"/>
              </a:rPr>
              <a:t> yang sangat </a:t>
            </a:r>
            <a:r>
              <a:rPr lang="en-ID" sz="1100" dirty="0" err="1">
                <a:latin typeface="Montserrat" panose="00000500000000000000" pitchFamily="2" charset="0"/>
              </a:rPr>
              <a:t>tinggi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dalam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membedakan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kondisi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patologis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dari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kondisi</a:t>
            </a:r>
            <a:r>
              <a:rPr lang="en-ID" sz="1100" dirty="0">
                <a:latin typeface="Montserrat" panose="00000500000000000000" pitchFamily="2" charset="0"/>
              </a:rPr>
              <a:t> normal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99728F-103A-183D-F7CD-A81A4F860052}"/>
              </a:ext>
            </a:extLst>
          </p:cNvPr>
          <p:cNvSpPr txBox="1"/>
          <p:nvPr/>
        </p:nvSpPr>
        <p:spPr>
          <a:xfrm>
            <a:off x="719665" y="3099934"/>
            <a:ext cx="735012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100" b="1" dirty="0" err="1">
                <a:latin typeface="Montserrat" panose="00000500000000000000" pitchFamily="2" charset="0"/>
              </a:rPr>
              <a:t>Generalisasi</a:t>
            </a:r>
            <a:r>
              <a:rPr lang="en-ID" sz="1100" b="1" dirty="0">
                <a:latin typeface="Montserrat" panose="00000500000000000000" pitchFamily="2" charset="0"/>
              </a:rPr>
              <a:t> Data: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Sebagai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metode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i="1" dirty="0">
                <a:latin typeface="Montserrat" panose="00000500000000000000" pitchFamily="2" charset="0"/>
              </a:rPr>
              <a:t>ensemble</a:t>
            </a:r>
            <a:r>
              <a:rPr lang="en-ID" sz="1100" dirty="0">
                <a:latin typeface="Montserrat" panose="00000500000000000000" pitchFamily="2" charset="0"/>
              </a:rPr>
              <a:t>, Random Forest </a:t>
            </a:r>
            <a:r>
              <a:rPr lang="en-ID" sz="1100" dirty="0" err="1">
                <a:latin typeface="Montserrat" panose="00000500000000000000" pitchFamily="2" charset="0"/>
              </a:rPr>
              <a:t>lebih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tahan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terhadap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variasi</a:t>
            </a:r>
            <a:r>
              <a:rPr lang="en-ID" sz="1100" dirty="0">
                <a:latin typeface="Montserrat" panose="00000500000000000000" pitchFamily="2" charset="0"/>
              </a:rPr>
              <a:t> data </a:t>
            </a:r>
            <a:r>
              <a:rPr lang="en-ID" sz="1100" dirty="0" err="1">
                <a:latin typeface="Montserrat" panose="00000500000000000000" pitchFamily="2" charset="0"/>
              </a:rPr>
              <a:t>lapangan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dibandingkan</a:t>
            </a:r>
            <a:r>
              <a:rPr lang="en-ID" sz="1100" dirty="0">
                <a:latin typeface="Montserrat" panose="00000500000000000000" pitchFamily="2" charset="0"/>
              </a:rPr>
              <a:t> Decision Tree </a:t>
            </a:r>
            <a:r>
              <a:rPr lang="en-ID" sz="1100" dirty="0" err="1">
                <a:latin typeface="Montserrat" panose="00000500000000000000" pitchFamily="2" charset="0"/>
              </a:rPr>
              <a:t>tunggal</a:t>
            </a:r>
            <a:r>
              <a:rPr lang="en-ID" sz="1100" dirty="0">
                <a:latin typeface="Montserrat" panose="00000500000000000000" pitchFamily="2" charset="0"/>
              </a:rPr>
              <a:t>, </a:t>
            </a:r>
            <a:r>
              <a:rPr lang="en-ID" sz="1100" dirty="0" err="1">
                <a:latin typeface="Montserrat" panose="00000500000000000000" pitchFamily="2" charset="0"/>
              </a:rPr>
              <a:t>sehingga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meminimalkan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risiko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kesalahan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prediksi</a:t>
            </a:r>
            <a:r>
              <a:rPr lang="en-ID" sz="1100" dirty="0">
                <a:latin typeface="Montserrat" panose="00000500000000000000" pitchFamily="2" charset="0"/>
              </a:rPr>
              <a:t> (</a:t>
            </a:r>
            <a:r>
              <a:rPr lang="en-ID" sz="1100" i="1" dirty="0">
                <a:latin typeface="Montserrat" panose="00000500000000000000" pitchFamily="2" charset="0"/>
              </a:rPr>
              <a:t>overfitting</a:t>
            </a:r>
            <a:r>
              <a:rPr lang="en-ID" sz="1100" dirty="0">
                <a:latin typeface="Montserrat" panose="00000500000000000000" pitchFamily="2" charset="0"/>
              </a:rPr>
              <a:t>) </a:t>
            </a:r>
            <a:r>
              <a:rPr lang="en-ID" sz="1100" dirty="0" err="1">
                <a:latin typeface="Montserrat" panose="00000500000000000000" pitchFamily="2" charset="0"/>
              </a:rPr>
              <a:t>saat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menghadapi</a:t>
            </a:r>
            <a:r>
              <a:rPr lang="en-ID" sz="1100" dirty="0">
                <a:latin typeface="Montserrat" panose="00000500000000000000" pitchFamily="2" charset="0"/>
              </a:rPr>
              <a:t> data </a:t>
            </a:r>
            <a:r>
              <a:rPr lang="en-ID" sz="1100" dirty="0" err="1">
                <a:latin typeface="Montserrat" panose="00000500000000000000" pitchFamily="2" charset="0"/>
              </a:rPr>
              <a:t>pasien</a:t>
            </a:r>
            <a:r>
              <a:rPr lang="en-ID" sz="1100" dirty="0">
                <a:latin typeface="Montserrat" panose="00000500000000000000" pitchFamily="2" charset="0"/>
              </a:rPr>
              <a:t> </a:t>
            </a:r>
            <a:r>
              <a:rPr lang="en-ID" sz="1100" dirty="0" err="1">
                <a:latin typeface="Montserrat" panose="00000500000000000000" pitchFamily="2" charset="0"/>
              </a:rPr>
              <a:t>baru</a:t>
            </a:r>
            <a:r>
              <a:rPr lang="en-ID" sz="110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5421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A6D1A4E-4FE5-F122-94D0-94620F32B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>
            <a:extLst>
              <a:ext uri="{FF2B5EF4-FFF2-40B4-BE49-F238E27FC236}">
                <a16:creationId xmlns:a16="http://schemas.microsoft.com/office/drawing/2014/main" id="{70445B1A-139B-13D2-8C42-476FE08043D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-8210" y="1056555"/>
            <a:ext cx="3621360" cy="1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3600"/>
            </a:pPr>
            <a:r>
              <a:rPr lang="en-ID" sz="2600" dirty="0">
                <a:solidFill>
                  <a:schemeClr val="bg1"/>
                </a:solidFill>
                <a:latin typeface="Poppins "/>
              </a:rPr>
              <a:t>Deployment </a:t>
            </a:r>
            <a:br>
              <a:rPr lang="en-ID" dirty="0">
                <a:solidFill>
                  <a:schemeClr val="bg1"/>
                </a:solidFill>
                <a:latin typeface="Poppins "/>
              </a:rPr>
            </a:br>
            <a:r>
              <a:rPr lang="en-ID" sz="1400" b="0" dirty="0">
                <a:solidFill>
                  <a:schemeClr val="bg1"/>
                </a:solidFill>
                <a:latin typeface="Montserrat" panose="00000500000000000000" pitchFamily="2" charset="0"/>
              </a:rPr>
              <a:t>“</a:t>
            </a:r>
            <a:r>
              <a:rPr lang="en-ID" sz="1400" b="0" dirty="0" err="1">
                <a:solidFill>
                  <a:schemeClr val="bg1"/>
                </a:solidFill>
                <a:latin typeface="Montserrat" panose="00000500000000000000" pitchFamily="2" charset="0"/>
              </a:rPr>
              <a:t>Implementasi</a:t>
            </a:r>
            <a:r>
              <a:rPr lang="en-ID" sz="1400" b="0" dirty="0">
                <a:solidFill>
                  <a:schemeClr val="bg1"/>
                </a:solidFill>
                <a:latin typeface="Montserrat" panose="00000500000000000000" pitchFamily="2" charset="0"/>
              </a:rPr>
              <a:t> Machine Learning: </a:t>
            </a:r>
            <a:r>
              <a:rPr lang="en-ID" sz="1400" b="0" dirty="0" err="1">
                <a:solidFill>
                  <a:schemeClr val="bg1"/>
                </a:solidFill>
                <a:latin typeface="Montserrat" panose="00000500000000000000" pitchFamily="2" charset="0"/>
              </a:rPr>
              <a:t>Skrining</a:t>
            </a:r>
            <a:r>
              <a:rPr lang="en-ID" sz="1400" b="0" dirty="0">
                <a:solidFill>
                  <a:schemeClr val="bg1"/>
                </a:solidFill>
                <a:latin typeface="Montserrat" panose="00000500000000000000" pitchFamily="2" charset="0"/>
              </a:rPr>
              <a:t> Dini Kesehatan </a:t>
            </a:r>
            <a:r>
              <a:rPr lang="en-ID" sz="1400" b="0" dirty="0" err="1">
                <a:solidFill>
                  <a:schemeClr val="bg1"/>
                </a:solidFill>
                <a:latin typeface="Montserrat" panose="00000500000000000000" pitchFamily="2" charset="0"/>
              </a:rPr>
              <a:t>Jantung</a:t>
            </a:r>
            <a:r>
              <a:rPr lang="en-ID" sz="1400" b="0" dirty="0">
                <a:solidFill>
                  <a:schemeClr val="bg1"/>
                </a:solidFill>
                <a:latin typeface="Montserrat" panose="00000500000000000000" pitchFamily="2" charset="0"/>
              </a:rPr>
              <a:t>"</a:t>
            </a:r>
            <a:br>
              <a:rPr lang="en-ID" sz="14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FD688B-592B-37F3-FBAD-97F1AA684CDE}"/>
              </a:ext>
            </a:extLst>
          </p:cNvPr>
          <p:cNvSpPr txBox="1"/>
          <p:nvPr/>
        </p:nvSpPr>
        <p:spPr>
          <a:xfrm>
            <a:off x="3613150" y="1302933"/>
            <a:ext cx="53149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200" dirty="0">
                <a:latin typeface="Montserrat" panose="00000500000000000000" pitchFamily="2" charset="0"/>
              </a:rPr>
              <a:t>Proyek </a:t>
            </a:r>
            <a:r>
              <a:rPr lang="en-ID" sz="1200" dirty="0" err="1">
                <a:latin typeface="Montserrat" panose="00000500000000000000" pitchFamily="2" charset="0"/>
              </a:rPr>
              <a:t>ini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bukan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sekadar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tugas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akhir</a:t>
            </a:r>
            <a:r>
              <a:rPr lang="en-ID" sz="1200" dirty="0">
                <a:latin typeface="Montserrat" panose="00000500000000000000" pitchFamily="2" charset="0"/>
              </a:rPr>
              <a:t>, </a:t>
            </a:r>
            <a:r>
              <a:rPr lang="en-ID" sz="1200" dirty="0" err="1">
                <a:latin typeface="Montserrat" panose="00000500000000000000" pitchFamily="2" charset="0"/>
              </a:rPr>
              <a:t>melainkan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upaya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untuk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mengintegrasikan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teknologi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i="1" dirty="0">
                <a:latin typeface="Montserrat" panose="00000500000000000000" pitchFamily="2" charset="0"/>
              </a:rPr>
              <a:t>Machine Learning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dalam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membantu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deteksi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dini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risiko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penyakit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kardiovaskular</a:t>
            </a:r>
            <a:r>
              <a:rPr lang="en-ID" sz="1200" dirty="0">
                <a:latin typeface="Montserrat" panose="00000500000000000000" pitchFamily="2" charset="0"/>
              </a:rPr>
              <a:t>. </a:t>
            </a:r>
            <a:r>
              <a:rPr lang="en-ID" sz="1200" dirty="0" err="1">
                <a:latin typeface="Montserrat" panose="00000500000000000000" pitchFamily="2" charset="0"/>
              </a:rPr>
              <a:t>Dengan</a:t>
            </a:r>
            <a:r>
              <a:rPr lang="en-ID" sz="1200" dirty="0">
                <a:latin typeface="Montserrat" panose="00000500000000000000" pitchFamily="2" charset="0"/>
              </a:rPr>
              <a:t> model Random Forest yang </a:t>
            </a:r>
            <a:r>
              <a:rPr lang="en-ID" sz="1200" dirty="0" err="1">
                <a:latin typeface="Montserrat" panose="00000500000000000000" pitchFamily="2" charset="0"/>
              </a:rPr>
              <a:t>telah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dioptimasi</a:t>
            </a:r>
            <a:r>
              <a:rPr lang="en-ID" sz="1200" dirty="0">
                <a:latin typeface="Montserrat" panose="00000500000000000000" pitchFamily="2" charset="0"/>
              </a:rPr>
              <a:t>, </a:t>
            </a:r>
            <a:r>
              <a:rPr lang="en-ID" sz="1200" dirty="0" err="1">
                <a:latin typeface="Montserrat" panose="00000500000000000000" pitchFamily="2" charset="0"/>
              </a:rPr>
              <a:t>aplikasi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ini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mampu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memberikan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prediksi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cepat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berdasarkan</a:t>
            </a:r>
            <a:r>
              <a:rPr lang="en-ID" sz="1200" dirty="0">
                <a:latin typeface="Montserrat" panose="00000500000000000000" pitchFamily="2" charset="0"/>
              </a:rPr>
              <a:t> parameter </a:t>
            </a:r>
            <a:r>
              <a:rPr lang="en-ID" sz="1200" dirty="0" err="1">
                <a:latin typeface="Montserrat" panose="00000500000000000000" pitchFamily="2" charset="0"/>
              </a:rPr>
              <a:t>medis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  <a:r>
              <a:rPr lang="en-ID" sz="1200" dirty="0" err="1">
                <a:latin typeface="Montserrat" panose="00000500000000000000" pitchFamily="2" charset="0"/>
              </a:rPr>
              <a:t>esensial</a:t>
            </a:r>
            <a:r>
              <a:rPr lang="en-ID" sz="12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94EE5A-FC4B-8CCA-48E7-6AB0C0FA5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" y="2378630"/>
            <a:ext cx="2938431" cy="1962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CF466F-FAF8-A55B-26DB-B98A6E77FCCF}"/>
              </a:ext>
            </a:extLst>
          </p:cNvPr>
          <p:cNvSpPr txBox="1"/>
          <p:nvPr/>
        </p:nvSpPr>
        <p:spPr>
          <a:xfrm>
            <a:off x="3613150" y="237863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b="1" dirty="0">
                <a:latin typeface="Montserrat" panose="00000500000000000000" pitchFamily="2" charset="0"/>
              </a:rPr>
              <a:t>Coba </a:t>
            </a:r>
            <a:r>
              <a:rPr lang="en-ID" sz="1200" b="1" dirty="0" err="1">
                <a:latin typeface="Montserrat" panose="00000500000000000000" pitchFamily="2" charset="0"/>
              </a:rPr>
              <a:t>Aplikasi</a:t>
            </a:r>
            <a:r>
              <a:rPr lang="en-ID" sz="1200" b="1" dirty="0">
                <a:latin typeface="Montserrat" panose="00000500000000000000" pitchFamily="2" charset="0"/>
              </a:rPr>
              <a:t> </a:t>
            </a:r>
            <a:r>
              <a:rPr lang="en-ID" sz="1200" b="1" dirty="0" err="1">
                <a:latin typeface="Montserrat" panose="00000500000000000000" pitchFamily="2" charset="0"/>
              </a:rPr>
              <a:t>Secara</a:t>
            </a:r>
            <a:r>
              <a:rPr lang="en-ID" sz="1200" b="1" dirty="0">
                <a:latin typeface="Montserrat" panose="00000500000000000000" pitchFamily="2" charset="0"/>
              </a:rPr>
              <a:t> </a:t>
            </a:r>
            <a:r>
              <a:rPr lang="en-ID" sz="1200" b="1" dirty="0" err="1">
                <a:latin typeface="Montserrat" panose="00000500000000000000" pitchFamily="2" charset="0"/>
              </a:rPr>
              <a:t>Langsung</a:t>
            </a:r>
            <a:r>
              <a:rPr lang="en-ID" sz="1200" b="1" dirty="0">
                <a:latin typeface="Montserrat" panose="00000500000000000000" pitchFamily="2" charset="0"/>
              </a:rPr>
              <a:t>:</a:t>
            </a:r>
            <a:r>
              <a:rPr lang="en-ID" sz="1200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5462C1-3866-B275-F13E-25E95C6D374D}"/>
              </a:ext>
            </a:extLst>
          </p:cNvPr>
          <p:cNvSpPr txBox="1"/>
          <p:nvPr/>
        </p:nvSpPr>
        <p:spPr>
          <a:xfrm>
            <a:off x="3613150" y="270179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latin typeface="Montserrat" panose="00000500000000000000" pitchFamily="2" charset="0"/>
                <a:hlinkClick r:id="rId4"/>
              </a:rPr>
              <a:t>https://projectdqlabheartdisease.streamlit.app/</a:t>
            </a:r>
            <a:endParaRPr lang="en-ID" sz="1200" dirty="0">
              <a:latin typeface="Montserrat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B45C9D-3CF5-EE4A-77D4-17122ABDABD5}"/>
              </a:ext>
            </a:extLst>
          </p:cNvPr>
          <p:cNvSpPr txBox="1"/>
          <p:nvPr/>
        </p:nvSpPr>
        <p:spPr>
          <a:xfrm>
            <a:off x="6270625" y="4755611"/>
            <a:ext cx="37655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50" i="1" dirty="0">
                <a:latin typeface="Montserrat" panose="00000500000000000000" pitchFamily="2" charset="0"/>
              </a:rPr>
              <a:t>“Data-driven health for a better future.”</a:t>
            </a:r>
            <a:endParaRPr lang="en-ID" sz="105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919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15C4B2-35B5-019A-CEDE-5F51403668C7}"/>
              </a:ext>
            </a:extLst>
          </p:cNvPr>
          <p:cNvSpPr txBox="1"/>
          <p:nvPr/>
        </p:nvSpPr>
        <p:spPr>
          <a:xfrm>
            <a:off x="600074" y="1694587"/>
            <a:ext cx="773536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554CAD"/>
                </a:solidFill>
                <a:latin typeface="Poppins "/>
              </a:rPr>
              <a:t>Thank You </a:t>
            </a:r>
          </a:p>
          <a:p>
            <a:r>
              <a:rPr lang="en-US" sz="1100" b="1" dirty="0">
                <a:solidFill>
                  <a:srgbClr val="554CAD"/>
                </a:solidFill>
                <a:latin typeface="Montserrat" panose="00000500000000000000" pitchFamily="2" charset="0"/>
              </a:rPr>
              <a:t>For Your Attention</a:t>
            </a:r>
            <a:endParaRPr lang="en-ID" sz="1100" b="1" dirty="0">
              <a:solidFill>
                <a:srgbClr val="554CAD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2221</Words>
  <Application>Microsoft Office PowerPoint</Application>
  <PresentationFormat>On-screen Show (16:9)</PresentationFormat>
  <Paragraphs>216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Poppins Light</vt:lpstr>
      <vt:lpstr>Poppins SemiBold</vt:lpstr>
      <vt:lpstr>Poppins</vt:lpstr>
      <vt:lpstr>Arial</vt:lpstr>
      <vt:lpstr>Poppins </vt:lpstr>
      <vt:lpstr>Montserrat</vt:lpstr>
      <vt:lpstr>Simple Light</vt:lpstr>
      <vt:lpstr>Simple Light</vt:lpstr>
      <vt:lpstr>Early Detection System: Pemanfaatan Machine Learning untuk Deteksi Dini Penyakit Jantung.</vt:lpstr>
      <vt:lpstr>Outline</vt:lpstr>
      <vt:lpstr>PowerPoint Presentation</vt:lpstr>
      <vt:lpstr>Goals</vt:lpstr>
      <vt:lpstr>PowerPoint Presentation</vt:lpstr>
      <vt:lpstr>Data Understanding</vt:lpstr>
      <vt:lpstr>PowerPoint Presentation</vt:lpstr>
      <vt:lpstr>Data  Cleansing</vt:lpstr>
      <vt:lpstr>Data  Cleansing</vt:lpstr>
      <vt:lpstr>Data  Cleansing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Split &amp; Scaling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Optimasi:  ROC-AUC </vt:lpstr>
      <vt:lpstr>Optimasi: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Deployment  “Implementasi Machine Learning: Skrining Dini Kesehatan Jantung"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zacky bayu prasongko</cp:lastModifiedBy>
  <cp:revision>2</cp:revision>
  <dcterms:modified xsi:type="dcterms:W3CDTF">2026-08-28T17:00:35Z</dcterms:modified>
</cp:coreProperties>
</file>